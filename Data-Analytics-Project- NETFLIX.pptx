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Arial Black" panose="020B0A04020102020204" pitchFamily="34" charset="0"/>
      <p:bold r:id="rId13"/>
    </p:embeddedFont>
    <p:embeddedFont>
      <p:font typeface="Roboto Condensed" panose="02000000000000000000" pitchFamily="2"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796F"/>
    <a:srgbClr val="E8E8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3241C2-31BD-4144-8C9B-E000010AD126}" v="14" dt="2026-01-04T10:35:47.6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48" d="100"/>
          <a:sy n="48" d="100"/>
        </p:scale>
        <p:origin x="972"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a Garg" userId="cf27ef6c36bad0cf" providerId="LiveId" clId="{E003E520-25CB-49E6-8D9F-4C45793EF101}"/>
    <pc:docChg chg="undo custSel modSld">
      <pc:chgData name="Abha Garg" userId="cf27ef6c36bad0cf" providerId="LiveId" clId="{E003E520-25CB-49E6-8D9F-4C45793EF101}" dt="2026-01-04T10:35:50.877" v="202" actId="1076"/>
      <pc:docMkLst>
        <pc:docMk/>
      </pc:docMkLst>
      <pc:sldChg chg="modSp mod">
        <pc:chgData name="Abha Garg" userId="cf27ef6c36bad0cf" providerId="LiveId" clId="{E003E520-25CB-49E6-8D9F-4C45793EF101}" dt="2026-01-04T10:32:13.907" v="183" actId="207"/>
        <pc:sldMkLst>
          <pc:docMk/>
          <pc:sldMk cId="0" sldId="257"/>
        </pc:sldMkLst>
        <pc:spChg chg="mod">
          <ac:chgData name="Abha Garg" userId="cf27ef6c36bad0cf" providerId="LiveId" clId="{E003E520-25CB-49E6-8D9F-4C45793EF101}" dt="2026-01-04T10:32:13.907" v="183" actId="207"/>
          <ac:spMkLst>
            <pc:docMk/>
            <pc:sldMk cId="0" sldId="257"/>
            <ac:spMk id="2" creationId="{00000000-0000-0000-0000-000000000000}"/>
          </ac:spMkLst>
        </pc:spChg>
        <pc:spChg chg="mod">
          <ac:chgData name="Abha Garg" userId="cf27ef6c36bad0cf" providerId="LiveId" clId="{E003E520-25CB-49E6-8D9F-4C45793EF101}" dt="2026-01-04T10:31:33.699" v="179" actId="1076"/>
          <ac:spMkLst>
            <pc:docMk/>
            <pc:sldMk cId="0" sldId="257"/>
            <ac:spMk id="3" creationId="{00000000-0000-0000-0000-000000000000}"/>
          </ac:spMkLst>
        </pc:spChg>
        <pc:spChg chg="mod">
          <ac:chgData name="Abha Garg" userId="cf27ef6c36bad0cf" providerId="LiveId" clId="{E003E520-25CB-49E6-8D9F-4C45793EF101}" dt="2026-01-04T10:30:29.360" v="176" actId="404"/>
          <ac:spMkLst>
            <pc:docMk/>
            <pc:sldMk cId="0" sldId="257"/>
            <ac:spMk id="4" creationId="{00000000-0000-0000-0000-000000000000}"/>
          </ac:spMkLst>
        </pc:spChg>
        <pc:spChg chg="mod">
          <ac:chgData name="Abha Garg" userId="cf27ef6c36bad0cf" providerId="LiveId" clId="{E003E520-25CB-49E6-8D9F-4C45793EF101}" dt="2026-01-04T10:32:06.608" v="182" actId="255"/>
          <ac:spMkLst>
            <pc:docMk/>
            <pc:sldMk cId="0" sldId="257"/>
            <ac:spMk id="10" creationId="{00000000-0000-0000-0000-000000000000}"/>
          </ac:spMkLst>
        </pc:spChg>
        <pc:spChg chg="mod">
          <ac:chgData name="Abha Garg" userId="cf27ef6c36bad0cf" providerId="LiveId" clId="{E003E520-25CB-49E6-8D9F-4C45793EF101}" dt="2026-01-04T10:31:52.882" v="180" actId="404"/>
          <ac:spMkLst>
            <pc:docMk/>
            <pc:sldMk cId="0" sldId="257"/>
            <ac:spMk id="11" creationId="{00000000-0000-0000-0000-000000000000}"/>
          </ac:spMkLst>
        </pc:spChg>
        <pc:spChg chg="mod">
          <ac:chgData name="Abha Garg" userId="cf27ef6c36bad0cf" providerId="LiveId" clId="{E003E520-25CB-49E6-8D9F-4C45793EF101}" dt="2026-01-04T10:32:06.608" v="182" actId="255"/>
          <ac:spMkLst>
            <pc:docMk/>
            <pc:sldMk cId="0" sldId="257"/>
            <ac:spMk id="16" creationId="{00000000-0000-0000-0000-000000000000}"/>
          </ac:spMkLst>
        </pc:spChg>
        <pc:spChg chg="mod">
          <ac:chgData name="Abha Garg" userId="cf27ef6c36bad0cf" providerId="LiveId" clId="{E003E520-25CB-49E6-8D9F-4C45793EF101}" dt="2026-01-04T10:31:52.882" v="180" actId="404"/>
          <ac:spMkLst>
            <pc:docMk/>
            <pc:sldMk cId="0" sldId="257"/>
            <ac:spMk id="17" creationId="{00000000-0000-0000-0000-000000000000}"/>
          </ac:spMkLst>
        </pc:spChg>
        <pc:spChg chg="mod">
          <ac:chgData name="Abha Garg" userId="cf27ef6c36bad0cf" providerId="LiveId" clId="{E003E520-25CB-49E6-8D9F-4C45793EF101}" dt="2026-01-04T10:32:06.608" v="182" actId="255"/>
          <ac:spMkLst>
            <pc:docMk/>
            <pc:sldMk cId="0" sldId="257"/>
            <ac:spMk id="22" creationId="{00000000-0000-0000-0000-000000000000}"/>
          </ac:spMkLst>
        </pc:spChg>
        <pc:spChg chg="mod">
          <ac:chgData name="Abha Garg" userId="cf27ef6c36bad0cf" providerId="LiveId" clId="{E003E520-25CB-49E6-8D9F-4C45793EF101}" dt="2026-01-04T10:31:52.882" v="180" actId="404"/>
          <ac:spMkLst>
            <pc:docMk/>
            <pc:sldMk cId="0" sldId="257"/>
            <ac:spMk id="23" creationId="{00000000-0000-0000-0000-000000000000}"/>
          </ac:spMkLst>
        </pc:spChg>
        <pc:spChg chg="mod">
          <ac:chgData name="Abha Garg" userId="cf27ef6c36bad0cf" providerId="LiveId" clId="{E003E520-25CB-49E6-8D9F-4C45793EF101}" dt="2026-01-04T10:32:06.608" v="182" actId="255"/>
          <ac:spMkLst>
            <pc:docMk/>
            <pc:sldMk cId="0" sldId="257"/>
            <ac:spMk id="28" creationId="{00000000-0000-0000-0000-000000000000}"/>
          </ac:spMkLst>
        </pc:spChg>
        <pc:spChg chg="mod">
          <ac:chgData name="Abha Garg" userId="cf27ef6c36bad0cf" providerId="LiveId" clId="{E003E520-25CB-49E6-8D9F-4C45793EF101}" dt="2026-01-04T10:31:52.882" v="180" actId="404"/>
          <ac:spMkLst>
            <pc:docMk/>
            <pc:sldMk cId="0" sldId="257"/>
            <ac:spMk id="29" creationId="{00000000-0000-0000-0000-000000000000}"/>
          </ac:spMkLst>
        </pc:spChg>
      </pc:sldChg>
      <pc:sldChg chg="modSp mod">
        <pc:chgData name="Abha Garg" userId="cf27ef6c36bad0cf" providerId="LiveId" clId="{E003E520-25CB-49E6-8D9F-4C45793EF101}" dt="2026-01-04T10:32:59.606" v="184" actId="404"/>
        <pc:sldMkLst>
          <pc:docMk/>
          <pc:sldMk cId="0" sldId="261"/>
        </pc:sldMkLst>
        <pc:spChg chg="mod">
          <ac:chgData name="Abha Garg" userId="cf27ef6c36bad0cf" providerId="LiveId" clId="{E003E520-25CB-49E6-8D9F-4C45793EF101}" dt="2026-01-04T10:32:59.606" v="184" actId="404"/>
          <ac:spMkLst>
            <pc:docMk/>
            <pc:sldMk cId="0" sldId="261"/>
            <ac:spMk id="6" creationId="{00000000-0000-0000-0000-000000000000}"/>
          </ac:spMkLst>
        </pc:spChg>
      </pc:sldChg>
      <pc:sldChg chg="modSp mod">
        <pc:chgData name="Abha Garg" userId="cf27ef6c36bad0cf" providerId="LiveId" clId="{E003E520-25CB-49E6-8D9F-4C45793EF101}" dt="2026-01-04T10:33:29.860" v="185" actId="404"/>
        <pc:sldMkLst>
          <pc:docMk/>
          <pc:sldMk cId="0" sldId="262"/>
        </pc:sldMkLst>
        <pc:spChg chg="mod">
          <ac:chgData name="Abha Garg" userId="cf27ef6c36bad0cf" providerId="LiveId" clId="{E003E520-25CB-49E6-8D9F-4C45793EF101}" dt="2026-01-04T10:33:29.860" v="185" actId="404"/>
          <ac:spMkLst>
            <pc:docMk/>
            <pc:sldMk cId="0" sldId="262"/>
            <ac:spMk id="2" creationId="{00000000-0000-0000-0000-000000000000}"/>
          </ac:spMkLst>
        </pc:spChg>
      </pc:sldChg>
      <pc:sldChg chg="addSp delSp modSp mod">
        <pc:chgData name="Abha Garg" userId="cf27ef6c36bad0cf" providerId="LiveId" clId="{E003E520-25CB-49E6-8D9F-4C45793EF101}" dt="2026-01-04T10:35:50.877" v="202" actId="1076"/>
        <pc:sldMkLst>
          <pc:docMk/>
          <pc:sldMk cId="0" sldId="263"/>
        </pc:sldMkLst>
        <pc:spChg chg="mod">
          <ac:chgData name="Abha Garg" userId="cf27ef6c36bad0cf" providerId="LiveId" clId="{E003E520-25CB-49E6-8D9F-4C45793EF101}" dt="2026-01-04T10:34:20.175" v="191" actId="404"/>
          <ac:spMkLst>
            <pc:docMk/>
            <pc:sldMk cId="0" sldId="263"/>
            <ac:spMk id="3" creationId="{00000000-0000-0000-0000-000000000000}"/>
          </ac:spMkLst>
        </pc:spChg>
        <pc:spChg chg="mod">
          <ac:chgData name="Abha Garg" userId="cf27ef6c36bad0cf" providerId="LiveId" clId="{E003E520-25CB-49E6-8D9F-4C45793EF101}" dt="2026-01-04T10:34:20.175" v="191" actId="404"/>
          <ac:spMkLst>
            <pc:docMk/>
            <pc:sldMk cId="0" sldId="263"/>
            <ac:spMk id="4" creationId="{00000000-0000-0000-0000-000000000000}"/>
          </ac:spMkLst>
        </pc:spChg>
        <pc:spChg chg="mod">
          <ac:chgData name="Abha Garg" userId="cf27ef6c36bad0cf" providerId="LiveId" clId="{E003E520-25CB-49E6-8D9F-4C45793EF101}" dt="2026-01-04T10:34:25.591" v="192" actId="1076"/>
          <ac:spMkLst>
            <pc:docMk/>
            <pc:sldMk cId="0" sldId="263"/>
            <ac:spMk id="5" creationId="{00000000-0000-0000-0000-000000000000}"/>
          </ac:spMkLst>
        </pc:spChg>
        <pc:spChg chg="mod">
          <ac:chgData name="Abha Garg" userId="cf27ef6c36bad0cf" providerId="LiveId" clId="{E003E520-25CB-49E6-8D9F-4C45793EF101}" dt="2026-01-04T10:35:47.652" v="201" actId="164"/>
          <ac:spMkLst>
            <pc:docMk/>
            <pc:sldMk cId="0" sldId="263"/>
            <ac:spMk id="7" creationId="{00000000-0000-0000-0000-000000000000}"/>
          </ac:spMkLst>
        </pc:spChg>
        <pc:spChg chg="mod">
          <ac:chgData name="Abha Garg" userId="cf27ef6c36bad0cf" providerId="LiveId" clId="{E003E520-25CB-49E6-8D9F-4C45793EF101}" dt="2026-01-04T10:35:47.652" v="201" actId="164"/>
          <ac:spMkLst>
            <pc:docMk/>
            <pc:sldMk cId="0" sldId="263"/>
            <ac:spMk id="8" creationId="{00000000-0000-0000-0000-000000000000}"/>
          </ac:spMkLst>
        </pc:spChg>
        <pc:spChg chg="mod">
          <ac:chgData name="Abha Garg" userId="cf27ef6c36bad0cf" providerId="LiveId" clId="{E003E520-25CB-49E6-8D9F-4C45793EF101}" dt="2026-01-04T10:35:47.652" v="201" actId="164"/>
          <ac:spMkLst>
            <pc:docMk/>
            <pc:sldMk cId="0" sldId="263"/>
            <ac:spMk id="10" creationId="{00000000-0000-0000-0000-000000000000}"/>
          </ac:spMkLst>
        </pc:spChg>
        <pc:spChg chg="mod">
          <ac:chgData name="Abha Garg" userId="cf27ef6c36bad0cf" providerId="LiveId" clId="{E003E520-25CB-49E6-8D9F-4C45793EF101}" dt="2026-01-04T10:35:47.652" v="201" actId="164"/>
          <ac:spMkLst>
            <pc:docMk/>
            <pc:sldMk cId="0" sldId="263"/>
            <ac:spMk id="11" creationId="{00000000-0000-0000-0000-000000000000}"/>
          </ac:spMkLst>
        </pc:spChg>
        <pc:spChg chg="mod">
          <ac:chgData name="Abha Garg" userId="cf27ef6c36bad0cf" providerId="LiveId" clId="{E003E520-25CB-49E6-8D9F-4C45793EF101}" dt="2026-01-04T10:35:47.652" v="201" actId="164"/>
          <ac:spMkLst>
            <pc:docMk/>
            <pc:sldMk cId="0" sldId="263"/>
            <ac:spMk id="13" creationId="{00000000-0000-0000-0000-000000000000}"/>
          </ac:spMkLst>
        </pc:spChg>
        <pc:spChg chg="mod">
          <ac:chgData name="Abha Garg" userId="cf27ef6c36bad0cf" providerId="LiveId" clId="{E003E520-25CB-49E6-8D9F-4C45793EF101}" dt="2026-01-04T10:35:47.652" v="201" actId="164"/>
          <ac:spMkLst>
            <pc:docMk/>
            <pc:sldMk cId="0" sldId="263"/>
            <ac:spMk id="14" creationId="{00000000-0000-0000-0000-000000000000}"/>
          </ac:spMkLst>
        </pc:spChg>
        <pc:grpChg chg="mod">
          <ac:chgData name="Abha Garg" userId="cf27ef6c36bad0cf" providerId="LiveId" clId="{E003E520-25CB-49E6-8D9F-4C45793EF101}" dt="2026-01-04T10:34:16.965" v="189" actId="1076"/>
          <ac:grpSpMkLst>
            <pc:docMk/>
            <pc:sldMk cId="0" sldId="263"/>
            <ac:grpSpMk id="16" creationId="{3E15332A-8FBE-0005-CC1F-468FD2E74D2F}"/>
          </ac:grpSpMkLst>
        </pc:grpChg>
        <pc:grpChg chg="add mod">
          <ac:chgData name="Abha Garg" userId="cf27ef6c36bad0cf" providerId="LiveId" clId="{E003E520-25CB-49E6-8D9F-4C45793EF101}" dt="2026-01-04T10:35:50.877" v="202" actId="1076"/>
          <ac:grpSpMkLst>
            <pc:docMk/>
            <pc:sldMk cId="0" sldId="263"/>
            <ac:grpSpMk id="23" creationId="{B77524F7-3338-34B8-481C-D6C62B0C7D8B}"/>
          </ac:grpSpMkLst>
        </pc:grpChg>
        <pc:picChg chg="del">
          <ac:chgData name="Abha Garg" userId="cf27ef6c36bad0cf" providerId="LiveId" clId="{E003E520-25CB-49E6-8D9F-4C45793EF101}" dt="2026-01-04T09:56:28.818" v="8" actId="478"/>
          <ac:picMkLst>
            <pc:docMk/>
            <pc:sldMk cId="0" sldId="263"/>
            <ac:picMk id="2" creationId="{00000000-0000-0000-0000-000000000000}"/>
          </ac:picMkLst>
        </pc:picChg>
        <pc:picChg chg="mod">
          <ac:chgData name="Abha Garg" userId="cf27ef6c36bad0cf" providerId="LiveId" clId="{E003E520-25CB-49E6-8D9F-4C45793EF101}" dt="2026-01-04T10:35:47.652" v="201" actId="164"/>
          <ac:picMkLst>
            <pc:docMk/>
            <pc:sldMk cId="0" sldId="263"/>
            <ac:picMk id="6" creationId="{00000000-0000-0000-0000-000000000000}"/>
          </ac:picMkLst>
        </pc:picChg>
        <pc:picChg chg="mod">
          <ac:chgData name="Abha Garg" userId="cf27ef6c36bad0cf" providerId="LiveId" clId="{E003E520-25CB-49E6-8D9F-4C45793EF101}" dt="2026-01-04T10:35:47.652" v="201" actId="164"/>
          <ac:picMkLst>
            <pc:docMk/>
            <pc:sldMk cId="0" sldId="263"/>
            <ac:picMk id="9" creationId="{00000000-0000-0000-0000-000000000000}"/>
          </ac:picMkLst>
        </pc:picChg>
        <pc:picChg chg="mod">
          <ac:chgData name="Abha Garg" userId="cf27ef6c36bad0cf" providerId="LiveId" clId="{E003E520-25CB-49E6-8D9F-4C45793EF101}" dt="2026-01-04T10:35:47.652" v="201" actId="164"/>
          <ac:picMkLst>
            <pc:docMk/>
            <pc:sldMk cId="0" sldId="263"/>
            <ac:picMk id="12" creationId="{00000000-0000-0000-0000-000000000000}"/>
          </ac:picMkLst>
        </pc:picChg>
        <pc:picChg chg="add del mod">
          <ac:chgData name="Abha Garg" userId="cf27ef6c36bad0cf" providerId="LiveId" clId="{E003E520-25CB-49E6-8D9F-4C45793EF101}" dt="2026-01-04T09:57:45.841" v="13" actId="478"/>
          <ac:picMkLst>
            <pc:docMk/>
            <pc:sldMk cId="0" sldId="263"/>
            <ac:picMk id="20" creationId="{697BB393-8AD7-5F3A-C8BF-1B7028F84CA3}"/>
          </ac:picMkLst>
        </pc:picChg>
        <pc:picChg chg="add mod modCrop">
          <ac:chgData name="Abha Garg" userId="cf27ef6c36bad0cf" providerId="LiveId" clId="{E003E520-25CB-49E6-8D9F-4C45793EF101}" dt="2026-01-04T10:34:06.208" v="188" actId="1076"/>
          <ac:picMkLst>
            <pc:docMk/>
            <pc:sldMk cId="0" sldId="263"/>
            <ac:picMk id="22" creationId="{DDD50512-1B5A-C801-5529-AE25FAA6B1C2}"/>
          </ac:picMkLst>
        </pc:picChg>
      </pc:sldChg>
      <pc:sldChg chg="addSp delSp modSp mod">
        <pc:chgData name="Abha Garg" userId="cf27ef6c36bad0cf" providerId="LiveId" clId="{E003E520-25CB-49E6-8D9F-4C45793EF101}" dt="2026-01-04T10:22:35.397" v="108" actId="1076"/>
        <pc:sldMkLst>
          <pc:docMk/>
          <pc:sldMk cId="0" sldId="264"/>
        </pc:sldMkLst>
        <pc:spChg chg="del mod">
          <ac:chgData name="Abha Garg" userId="cf27ef6c36bad0cf" providerId="LiveId" clId="{E003E520-25CB-49E6-8D9F-4C45793EF101}" dt="2026-01-04T10:07:53.322" v="51" actId="478"/>
          <ac:spMkLst>
            <pc:docMk/>
            <pc:sldMk cId="0" sldId="264"/>
            <ac:spMk id="3" creationId="{00000000-0000-0000-0000-000000000000}"/>
          </ac:spMkLst>
        </pc:spChg>
        <pc:spChg chg="mod">
          <ac:chgData name="Abha Garg" userId="cf27ef6c36bad0cf" providerId="LiveId" clId="{E003E520-25CB-49E6-8D9F-4C45793EF101}" dt="2026-01-04T10:14:00.473" v="58" actId="164"/>
          <ac:spMkLst>
            <pc:docMk/>
            <pc:sldMk cId="0" sldId="264"/>
            <ac:spMk id="5" creationId="{00000000-0000-0000-0000-000000000000}"/>
          </ac:spMkLst>
        </pc:spChg>
        <pc:spChg chg="mod">
          <ac:chgData name="Abha Garg" userId="cf27ef6c36bad0cf" providerId="LiveId" clId="{E003E520-25CB-49E6-8D9F-4C45793EF101}" dt="2026-01-04T10:22:32.071" v="107" actId="1076"/>
          <ac:spMkLst>
            <pc:docMk/>
            <pc:sldMk cId="0" sldId="264"/>
            <ac:spMk id="6" creationId="{00000000-0000-0000-0000-000000000000}"/>
          </ac:spMkLst>
        </pc:spChg>
        <pc:spChg chg="mod">
          <ac:chgData name="Abha Garg" userId="cf27ef6c36bad0cf" providerId="LiveId" clId="{E003E520-25CB-49E6-8D9F-4C45793EF101}" dt="2026-01-04T10:22:23.195" v="105" actId="164"/>
          <ac:spMkLst>
            <pc:docMk/>
            <pc:sldMk cId="0" sldId="264"/>
            <ac:spMk id="7" creationId="{00000000-0000-0000-0000-000000000000}"/>
          </ac:spMkLst>
        </pc:spChg>
        <pc:spChg chg="mod">
          <ac:chgData name="Abha Garg" userId="cf27ef6c36bad0cf" providerId="LiveId" clId="{E003E520-25CB-49E6-8D9F-4C45793EF101}" dt="2026-01-04T10:22:23.195" v="105" actId="164"/>
          <ac:spMkLst>
            <pc:docMk/>
            <pc:sldMk cId="0" sldId="264"/>
            <ac:spMk id="8" creationId="{00000000-0000-0000-0000-000000000000}"/>
          </ac:spMkLst>
        </pc:spChg>
        <pc:spChg chg="mod">
          <ac:chgData name="Abha Garg" userId="cf27ef6c36bad0cf" providerId="LiveId" clId="{E003E520-25CB-49E6-8D9F-4C45793EF101}" dt="2026-01-04T10:22:23.195" v="105" actId="164"/>
          <ac:spMkLst>
            <pc:docMk/>
            <pc:sldMk cId="0" sldId="264"/>
            <ac:spMk id="9" creationId="{00000000-0000-0000-0000-000000000000}"/>
          </ac:spMkLst>
        </pc:spChg>
        <pc:spChg chg="mod">
          <ac:chgData name="Abha Garg" userId="cf27ef6c36bad0cf" providerId="LiveId" clId="{E003E520-25CB-49E6-8D9F-4C45793EF101}" dt="2026-01-04T10:22:23.195" v="105" actId="164"/>
          <ac:spMkLst>
            <pc:docMk/>
            <pc:sldMk cId="0" sldId="264"/>
            <ac:spMk id="10" creationId="{00000000-0000-0000-0000-000000000000}"/>
          </ac:spMkLst>
        </pc:spChg>
        <pc:spChg chg="mod">
          <ac:chgData name="Abha Garg" userId="cf27ef6c36bad0cf" providerId="LiveId" clId="{E003E520-25CB-49E6-8D9F-4C45793EF101}" dt="2026-01-04T10:22:23.195" v="105" actId="164"/>
          <ac:spMkLst>
            <pc:docMk/>
            <pc:sldMk cId="0" sldId="264"/>
            <ac:spMk id="11" creationId="{00000000-0000-0000-0000-000000000000}"/>
          </ac:spMkLst>
        </pc:spChg>
        <pc:spChg chg="mod">
          <ac:chgData name="Abha Garg" userId="cf27ef6c36bad0cf" providerId="LiveId" clId="{E003E520-25CB-49E6-8D9F-4C45793EF101}" dt="2026-01-04T10:22:23.195" v="105" actId="164"/>
          <ac:spMkLst>
            <pc:docMk/>
            <pc:sldMk cId="0" sldId="264"/>
            <ac:spMk id="12" creationId="{00000000-0000-0000-0000-000000000000}"/>
          </ac:spMkLst>
        </pc:spChg>
        <pc:spChg chg="mod">
          <ac:chgData name="Abha Garg" userId="cf27ef6c36bad0cf" providerId="LiveId" clId="{E003E520-25CB-49E6-8D9F-4C45793EF101}" dt="2026-01-04T10:22:23.195" v="105" actId="164"/>
          <ac:spMkLst>
            <pc:docMk/>
            <pc:sldMk cId="0" sldId="264"/>
            <ac:spMk id="13" creationId="{00000000-0000-0000-0000-000000000000}"/>
          </ac:spMkLst>
        </pc:spChg>
        <pc:spChg chg="mod">
          <ac:chgData name="Abha Garg" userId="cf27ef6c36bad0cf" providerId="LiveId" clId="{E003E520-25CB-49E6-8D9F-4C45793EF101}" dt="2026-01-04T10:22:23.195" v="105" actId="164"/>
          <ac:spMkLst>
            <pc:docMk/>
            <pc:sldMk cId="0" sldId="264"/>
            <ac:spMk id="14" creationId="{00000000-0000-0000-0000-000000000000}"/>
          </ac:spMkLst>
        </pc:spChg>
        <pc:spChg chg="mod">
          <ac:chgData name="Abha Garg" userId="cf27ef6c36bad0cf" providerId="LiveId" clId="{E003E520-25CB-49E6-8D9F-4C45793EF101}" dt="2026-01-04T10:01:04.998" v="37" actId="2711"/>
          <ac:spMkLst>
            <pc:docMk/>
            <pc:sldMk cId="0" sldId="264"/>
            <ac:spMk id="15" creationId="{00000000-0000-0000-0000-000000000000}"/>
          </ac:spMkLst>
        </pc:spChg>
        <pc:spChg chg="mod">
          <ac:chgData name="Abha Garg" userId="cf27ef6c36bad0cf" providerId="LiveId" clId="{E003E520-25CB-49E6-8D9F-4C45793EF101}" dt="2026-01-04T10:22:23.195" v="105" actId="164"/>
          <ac:spMkLst>
            <pc:docMk/>
            <pc:sldMk cId="0" sldId="264"/>
            <ac:spMk id="16" creationId="{00000000-0000-0000-0000-000000000000}"/>
          </ac:spMkLst>
        </pc:spChg>
        <pc:spChg chg="mod">
          <ac:chgData name="Abha Garg" userId="cf27ef6c36bad0cf" providerId="LiveId" clId="{E003E520-25CB-49E6-8D9F-4C45793EF101}" dt="2026-01-04T10:12:10.343" v="56" actId="207"/>
          <ac:spMkLst>
            <pc:docMk/>
            <pc:sldMk cId="0" sldId="264"/>
            <ac:spMk id="17" creationId="{00000000-0000-0000-0000-000000000000}"/>
          </ac:spMkLst>
        </pc:spChg>
        <pc:spChg chg="mod">
          <ac:chgData name="Abha Garg" userId="cf27ef6c36bad0cf" providerId="LiveId" clId="{E003E520-25CB-49E6-8D9F-4C45793EF101}" dt="2026-01-04T10:22:23.195" v="105" actId="164"/>
          <ac:spMkLst>
            <pc:docMk/>
            <pc:sldMk cId="0" sldId="264"/>
            <ac:spMk id="18" creationId="{00000000-0000-0000-0000-000000000000}"/>
          </ac:spMkLst>
        </pc:spChg>
        <pc:spChg chg="add mod">
          <ac:chgData name="Abha Garg" userId="cf27ef6c36bad0cf" providerId="LiveId" clId="{E003E520-25CB-49E6-8D9F-4C45793EF101}" dt="2026-01-04T10:14:18.066" v="61" actId="14100"/>
          <ac:spMkLst>
            <pc:docMk/>
            <pc:sldMk cId="0" sldId="264"/>
            <ac:spMk id="21" creationId="{F32FF74C-1357-5B73-38F3-84B9EDBC9BA8}"/>
          </ac:spMkLst>
        </pc:spChg>
        <pc:spChg chg="add mod">
          <ac:chgData name="Abha Garg" userId="cf27ef6c36bad0cf" providerId="LiveId" clId="{E003E520-25CB-49E6-8D9F-4C45793EF101}" dt="2026-01-04T10:21:22.654" v="98" actId="164"/>
          <ac:spMkLst>
            <pc:docMk/>
            <pc:sldMk cId="0" sldId="264"/>
            <ac:spMk id="24" creationId="{B335DCB7-8307-E1DB-15F1-7F620D34342B}"/>
          </ac:spMkLst>
        </pc:spChg>
        <pc:spChg chg="add mod">
          <ac:chgData name="Abha Garg" userId="cf27ef6c36bad0cf" providerId="LiveId" clId="{E003E520-25CB-49E6-8D9F-4C45793EF101}" dt="2026-01-04T10:21:22.654" v="98" actId="164"/>
          <ac:spMkLst>
            <pc:docMk/>
            <pc:sldMk cId="0" sldId="264"/>
            <ac:spMk id="25" creationId="{252B3920-EB4A-DF62-889B-4603818034B3}"/>
          </ac:spMkLst>
        </pc:spChg>
        <pc:spChg chg="add mod">
          <ac:chgData name="Abha Garg" userId="cf27ef6c36bad0cf" providerId="LiveId" clId="{E003E520-25CB-49E6-8D9F-4C45793EF101}" dt="2026-01-04T10:21:31.776" v="100" actId="1076"/>
          <ac:spMkLst>
            <pc:docMk/>
            <pc:sldMk cId="0" sldId="264"/>
            <ac:spMk id="26" creationId="{4697593D-4671-57B3-0E88-E0B69767C500}"/>
          </ac:spMkLst>
        </pc:spChg>
        <pc:spChg chg="add mod ord">
          <ac:chgData name="Abha Garg" userId="cf27ef6c36bad0cf" providerId="LiveId" clId="{E003E520-25CB-49E6-8D9F-4C45793EF101}" dt="2026-01-04T10:22:05.933" v="104" actId="171"/>
          <ac:spMkLst>
            <pc:docMk/>
            <pc:sldMk cId="0" sldId="264"/>
            <ac:spMk id="28" creationId="{1B967BD2-DEAE-F126-BA27-E8EAC3117795}"/>
          </ac:spMkLst>
        </pc:spChg>
        <pc:grpChg chg="add mod">
          <ac:chgData name="Abha Garg" userId="cf27ef6c36bad0cf" providerId="LiveId" clId="{E003E520-25CB-49E6-8D9F-4C45793EF101}" dt="2026-01-04T10:22:35.397" v="108" actId="1076"/>
          <ac:grpSpMkLst>
            <pc:docMk/>
            <pc:sldMk cId="0" sldId="264"/>
            <ac:grpSpMk id="20" creationId="{2B4C4AC8-8CE2-A1E4-2C98-E185C31C7608}"/>
          </ac:grpSpMkLst>
        </pc:grpChg>
        <pc:grpChg chg="add mod">
          <ac:chgData name="Abha Garg" userId="cf27ef6c36bad0cf" providerId="LiveId" clId="{E003E520-25CB-49E6-8D9F-4C45793EF101}" dt="2026-01-04T10:21:45.686" v="101" actId="1076"/>
          <ac:grpSpMkLst>
            <pc:docMk/>
            <pc:sldMk cId="0" sldId="264"/>
            <ac:grpSpMk id="27" creationId="{671A4550-E4CE-6CB1-4EB5-6C472F576FA1}"/>
          </ac:grpSpMkLst>
        </pc:grpChg>
        <pc:grpChg chg="mod">
          <ac:chgData name="Abha Garg" userId="cf27ef6c36bad0cf" providerId="LiveId" clId="{E003E520-25CB-49E6-8D9F-4C45793EF101}" dt="2026-01-04T10:22:26.463" v="106" actId="1076"/>
          <ac:grpSpMkLst>
            <pc:docMk/>
            <pc:sldMk cId="0" sldId="264"/>
            <ac:grpSpMk id="29" creationId="{07ECB2F5-8373-640A-5950-60659E11952D}"/>
          </ac:grpSpMkLst>
        </pc:grpChg>
        <pc:picChg chg="del mod">
          <ac:chgData name="Abha Garg" userId="cf27ef6c36bad0cf" providerId="LiveId" clId="{E003E520-25CB-49E6-8D9F-4C45793EF101}" dt="2026-01-04T10:00:33.225" v="32" actId="478"/>
          <ac:picMkLst>
            <pc:docMk/>
            <pc:sldMk cId="0" sldId="264"/>
            <ac:picMk id="2" creationId="{00000000-0000-0000-0000-000000000000}"/>
          </ac:picMkLst>
        </pc:picChg>
        <pc:picChg chg="mod">
          <ac:chgData name="Abha Garg" userId="cf27ef6c36bad0cf" providerId="LiveId" clId="{E003E520-25CB-49E6-8D9F-4C45793EF101}" dt="2026-01-04T10:14:00.473" v="58" actId="164"/>
          <ac:picMkLst>
            <pc:docMk/>
            <pc:sldMk cId="0" sldId="264"/>
            <ac:picMk id="4" creationId="{00000000-0000-0000-0000-000000000000}"/>
          </ac:picMkLst>
        </pc:picChg>
        <pc:picChg chg="add del mod">
          <ac:chgData name="Abha Garg" userId="cf27ef6c36bad0cf" providerId="LiveId" clId="{E003E520-25CB-49E6-8D9F-4C45793EF101}" dt="2026-01-04T10:17:51.452" v="70" actId="478"/>
          <ac:picMkLst>
            <pc:docMk/>
            <pc:sldMk cId="0" sldId="264"/>
            <ac:picMk id="23" creationId="{0E703644-A69E-1339-2C0C-3A6F643E084A}"/>
          </ac:picMkLst>
        </pc:picChg>
      </pc:sldChg>
      <pc:sldChg chg="addSp delSp modSp mod">
        <pc:chgData name="Abha Garg" userId="cf27ef6c36bad0cf" providerId="LiveId" clId="{E003E520-25CB-49E6-8D9F-4C45793EF101}" dt="2026-01-04T10:29:29.418" v="175" actId="255"/>
        <pc:sldMkLst>
          <pc:docMk/>
          <pc:sldMk cId="0" sldId="265"/>
        </pc:sldMkLst>
        <pc:spChg chg="mod">
          <ac:chgData name="Abha Garg" userId="cf27ef6c36bad0cf" providerId="LiveId" clId="{E003E520-25CB-49E6-8D9F-4C45793EF101}" dt="2026-01-04T10:24:39.206" v="152" actId="207"/>
          <ac:spMkLst>
            <pc:docMk/>
            <pc:sldMk cId="0" sldId="265"/>
            <ac:spMk id="2" creationId="{00000000-0000-0000-0000-000000000000}"/>
          </ac:spMkLst>
        </pc:spChg>
        <pc:spChg chg="mod">
          <ac:chgData name="Abha Garg" userId="cf27ef6c36bad0cf" providerId="LiveId" clId="{E003E520-25CB-49E6-8D9F-4C45793EF101}" dt="2026-01-04T10:23:57.819" v="140" actId="403"/>
          <ac:spMkLst>
            <pc:docMk/>
            <pc:sldMk cId="0" sldId="265"/>
            <ac:spMk id="4" creationId="{00000000-0000-0000-0000-000000000000}"/>
          </ac:spMkLst>
        </pc:spChg>
        <pc:spChg chg="mod">
          <ac:chgData name="Abha Garg" userId="cf27ef6c36bad0cf" providerId="LiveId" clId="{E003E520-25CB-49E6-8D9F-4C45793EF101}" dt="2026-01-04T10:29:29.418" v="175" actId="255"/>
          <ac:spMkLst>
            <pc:docMk/>
            <pc:sldMk cId="0" sldId="265"/>
            <ac:spMk id="5" creationId="{00000000-0000-0000-0000-000000000000}"/>
          </ac:spMkLst>
        </pc:spChg>
        <pc:spChg chg="mod">
          <ac:chgData name="Abha Garg" userId="cf27ef6c36bad0cf" providerId="LiveId" clId="{E003E520-25CB-49E6-8D9F-4C45793EF101}" dt="2026-01-04T10:29:29.418" v="175" actId="255"/>
          <ac:spMkLst>
            <pc:docMk/>
            <pc:sldMk cId="0" sldId="265"/>
            <ac:spMk id="6" creationId="{00000000-0000-0000-0000-000000000000}"/>
          </ac:spMkLst>
        </pc:spChg>
        <pc:spChg chg="mod topLvl">
          <ac:chgData name="Abha Garg" userId="cf27ef6c36bad0cf" providerId="LiveId" clId="{E003E520-25CB-49E6-8D9F-4C45793EF101}" dt="2026-01-04T10:28:23.681" v="163" actId="207"/>
          <ac:spMkLst>
            <pc:docMk/>
            <pc:sldMk cId="0" sldId="265"/>
            <ac:spMk id="7" creationId="{00000000-0000-0000-0000-000000000000}"/>
          </ac:spMkLst>
        </pc:spChg>
        <pc:spChg chg="mod topLvl">
          <ac:chgData name="Abha Garg" userId="cf27ef6c36bad0cf" providerId="LiveId" clId="{E003E520-25CB-49E6-8D9F-4C45793EF101}" dt="2026-01-04T10:29:04.435" v="172" actId="1076"/>
          <ac:spMkLst>
            <pc:docMk/>
            <pc:sldMk cId="0" sldId="265"/>
            <ac:spMk id="9" creationId="{00000000-0000-0000-0000-000000000000}"/>
          </ac:spMkLst>
        </pc:spChg>
        <pc:spChg chg="mod topLvl">
          <ac:chgData name="Abha Garg" userId="cf27ef6c36bad0cf" providerId="LiveId" clId="{E003E520-25CB-49E6-8D9F-4C45793EF101}" dt="2026-01-04T10:28:23.681" v="163" actId="207"/>
          <ac:spMkLst>
            <pc:docMk/>
            <pc:sldMk cId="0" sldId="265"/>
            <ac:spMk id="10" creationId="{00000000-0000-0000-0000-000000000000}"/>
          </ac:spMkLst>
        </pc:spChg>
        <pc:spChg chg="mod topLvl">
          <ac:chgData name="Abha Garg" userId="cf27ef6c36bad0cf" providerId="LiveId" clId="{E003E520-25CB-49E6-8D9F-4C45793EF101}" dt="2026-01-04T10:29:12.801" v="173" actId="1076"/>
          <ac:spMkLst>
            <pc:docMk/>
            <pc:sldMk cId="0" sldId="265"/>
            <ac:spMk id="12" creationId="{00000000-0000-0000-0000-000000000000}"/>
          </ac:spMkLst>
        </pc:spChg>
        <pc:spChg chg="mod topLvl">
          <ac:chgData name="Abha Garg" userId="cf27ef6c36bad0cf" providerId="LiveId" clId="{E003E520-25CB-49E6-8D9F-4C45793EF101}" dt="2026-01-04T10:28:23.681" v="163" actId="207"/>
          <ac:spMkLst>
            <pc:docMk/>
            <pc:sldMk cId="0" sldId="265"/>
            <ac:spMk id="13" creationId="{00000000-0000-0000-0000-000000000000}"/>
          </ac:spMkLst>
        </pc:spChg>
        <pc:spChg chg="mod topLvl">
          <ac:chgData name="Abha Garg" userId="cf27ef6c36bad0cf" providerId="LiveId" clId="{E003E520-25CB-49E6-8D9F-4C45793EF101}" dt="2026-01-04T10:29:17.647" v="174" actId="1076"/>
          <ac:spMkLst>
            <pc:docMk/>
            <pc:sldMk cId="0" sldId="265"/>
            <ac:spMk id="15" creationId="{00000000-0000-0000-0000-000000000000}"/>
          </ac:spMkLst>
        </pc:spChg>
        <pc:spChg chg="add mod">
          <ac:chgData name="Abha Garg" userId="cf27ef6c36bad0cf" providerId="LiveId" clId="{E003E520-25CB-49E6-8D9F-4C45793EF101}" dt="2026-01-04T10:24:47.083" v="153"/>
          <ac:spMkLst>
            <pc:docMk/>
            <pc:sldMk cId="0" sldId="265"/>
            <ac:spMk id="16" creationId="{DA2D5ABF-2779-61F9-34F6-A9A7D1E85ACC}"/>
          </ac:spMkLst>
        </pc:spChg>
        <pc:grpChg chg="add del mod">
          <ac:chgData name="Abha Garg" userId="cf27ef6c36bad0cf" providerId="LiveId" clId="{E003E520-25CB-49E6-8D9F-4C45793EF101}" dt="2026-01-04T10:25:38.089" v="159" actId="165"/>
          <ac:grpSpMkLst>
            <pc:docMk/>
            <pc:sldMk cId="0" sldId="265"/>
            <ac:grpSpMk id="17" creationId="{EF19CB1F-A4BB-F52E-9313-91B707E33E83}"/>
          </ac:grpSpMkLst>
        </pc:grpChg>
        <pc:picChg chg="del">
          <ac:chgData name="Abha Garg" userId="cf27ef6c36bad0cf" providerId="LiveId" clId="{E003E520-25CB-49E6-8D9F-4C45793EF101}" dt="2026-01-04T10:22:41.648" v="109" actId="478"/>
          <ac:picMkLst>
            <pc:docMk/>
            <pc:sldMk cId="0" sldId="265"/>
            <ac:picMk id="3" creationId="{00000000-0000-0000-0000-000000000000}"/>
          </ac:picMkLst>
        </pc:picChg>
        <pc:picChg chg="mod">
          <ac:chgData name="Abha Garg" userId="cf27ef6c36bad0cf" providerId="LiveId" clId="{E003E520-25CB-49E6-8D9F-4C45793EF101}" dt="2026-01-04T10:25:44.882" v="160" actId="1076"/>
          <ac:picMkLst>
            <pc:docMk/>
            <pc:sldMk cId="0" sldId="265"/>
            <ac:picMk id="8" creationId="{00000000-0000-0000-0000-000000000000}"/>
          </ac:picMkLst>
        </pc:picChg>
        <pc:picChg chg="mod">
          <ac:chgData name="Abha Garg" userId="cf27ef6c36bad0cf" providerId="LiveId" clId="{E003E520-25CB-49E6-8D9F-4C45793EF101}" dt="2026-01-04T10:25:50.783" v="161" actId="1076"/>
          <ac:picMkLst>
            <pc:docMk/>
            <pc:sldMk cId="0" sldId="265"/>
            <ac:picMk id="11" creationId="{00000000-0000-0000-0000-000000000000}"/>
          </ac:picMkLst>
        </pc:picChg>
        <pc:picChg chg="mod">
          <ac:chgData name="Abha Garg" userId="cf27ef6c36bad0cf" providerId="LiveId" clId="{E003E520-25CB-49E6-8D9F-4C45793EF101}" dt="2026-01-04T10:25:56.203" v="162" actId="1076"/>
          <ac:picMkLst>
            <pc:docMk/>
            <pc:sldMk cId="0" sldId="265"/>
            <ac:picMk id="1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5431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txBody>
          <a:bodyPr/>
          <a:lstStyle/>
          <a:p>
            <a:endParaRPr lang="en-US"/>
          </a:p>
        </p:txBody>
      </p:sp>
      <p:sp>
        <p:nvSpPr>
          <p:cNvPr id="3" name="Shape 1"/>
          <p:cNvSpPr/>
          <p:nvPr/>
        </p:nvSpPr>
        <p:spPr>
          <a:xfrm>
            <a:off x="0" y="0"/>
            <a:ext cx="14630400" cy="8229600"/>
          </a:xfrm>
          <a:prstGeom prst="rect">
            <a:avLst/>
          </a:prstGeom>
          <a:solidFill>
            <a:srgbClr val="E8E8E3"/>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svg"/><Relationship Id="rId11" Type="http://schemas.openxmlformats.org/officeDocument/2006/relationships/image" Target="../media/image22.jp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6.jp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8.svg"/></Relationships>
</file>

<file path=ppt/slides/_rels/slide10.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3790" y="2371486"/>
            <a:ext cx="4702850" cy="354330"/>
          </a:xfrm>
          <a:prstGeom prst="rect">
            <a:avLst/>
          </a:prstGeom>
          <a:noFill/>
          <a:ln/>
        </p:spPr>
        <p:txBody>
          <a:bodyPr wrap="none" lIns="0" tIns="0" rIns="0" bIns="0" rtlCol="0" anchor="t"/>
          <a:lstStyle/>
          <a:p>
            <a:pPr marL="0" indent="0" algn="l">
              <a:lnSpc>
                <a:spcPts val="2750"/>
              </a:lnSpc>
              <a:buNone/>
            </a:pPr>
            <a:r>
              <a:rPr lang="en-US" sz="2800" b="1" dirty="0">
                <a:solidFill>
                  <a:srgbClr val="0C0D0F"/>
                </a:solidFill>
                <a:ea typeface="Hubot Sans Bold" pitchFamily="34" charset="-122"/>
                <a:cs typeface="Hubot Sans Bold" pitchFamily="34" charset="-120"/>
              </a:rPr>
              <a:t>DATA  ANALYTICS  PROJECT</a:t>
            </a:r>
            <a:endParaRPr lang="en-US" sz="2800" dirty="0"/>
          </a:p>
        </p:txBody>
      </p:sp>
      <p:sp>
        <p:nvSpPr>
          <p:cNvPr id="4" name="Text 1"/>
          <p:cNvSpPr/>
          <p:nvPr/>
        </p:nvSpPr>
        <p:spPr>
          <a:xfrm>
            <a:off x="793790" y="2922627"/>
            <a:ext cx="7556421" cy="2126337"/>
          </a:xfrm>
          <a:prstGeom prst="rect">
            <a:avLst/>
          </a:prstGeom>
          <a:noFill/>
          <a:ln/>
        </p:spPr>
        <p:txBody>
          <a:bodyPr wrap="square" lIns="0" tIns="0" rIns="0" bIns="0" rtlCol="0" anchor="t"/>
          <a:lstStyle/>
          <a:p>
            <a:pPr marL="0" indent="0" algn="l">
              <a:lnSpc>
                <a:spcPts val="5550"/>
              </a:lnSpc>
              <a:buNone/>
            </a:pPr>
            <a:r>
              <a:rPr lang="en-US" sz="4450" b="1" dirty="0">
                <a:solidFill>
                  <a:srgbClr val="0C0D0F"/>
                </a:solidFill>
                <a:latin typeface="Arial Black" panose="020B0A04020102020204" pitchFamily="34" charset="0"/>
                <a:ea typeface="Hubot Sans Bold" pitchFamily="34" charset="-122"/>
                <a:cs typeface="Hubot Sans Bold" pitchFamily="34" charset="-120"/>
              </a:rPr>
              <a:t>NETFLIX MOVIES &amp; TV SHOWS – END-TO-END DATA ANALYTICS</a:t>
            </a:r>
            <a:endParaRPr lang="en-US" sz="4450" dirty="0">
              <a:latin typeface="Arial Black" panose="020B0A04020102020204" pitchFamily="34" charset="0"/>
            </a:endParaRPr>
          </a:p>
        </p:txBody>
      </p:sp>
      <p:sp>
        <p:nvSpPr>
          <p:cNvPr id="5" name="Text 2"/>
          <p:cNvSpPr/>
          <p:nvPr/>
        </p:nvSpPr>
        <p:spPr>
          <a:xfrm>
            <a:off x="793790" y="5207674"/>
            <a:ext cx="7556421" cy="362903"/>
          </a:xfrm>
          <a:prstGeom prst="rect">
            <a:avLst/>
          </a:prstGeom>
          <a:noFill/>
          <a:ln/>
        </p:spPr>
        <p:txBody>
          <a:bodyPr wrap="none" lIns="0" tIns="0" rIns="0" bIns="0" rtlCol="0" anchor="t"/>
          <a:lstStyle/>
          <a:p>
            <a:pPr marL="0" indent="0" algn="l">
              <a:lnSpc>
                <a:spcPts val="2850"/>
              </a:lnSpc>
              <a:buNone/>
            </a:pPr>
            <a:r>
              <a:rPr lang="en-US" sz="2000" dirty="0">
                <a:ea typeface="Roboto Condensed" pitchFamily="34" charset="-122"/>
                <a:cs typeface="Roboto Condensed" pitchFamily="34" charset="-120"/>
              </a:rPr>
              <a:t>Leveraging Python, SQL, and Power BI to unlock </a:t>
            </a:r>
          </a:p>
          <a:p>
            <a:pPr marL="0" indent="0" algn="l">
              <a:lnSpc>
                <a:spcPts val="2850"/>
              </a:lnSpc>
              <a:buNone/>
            </a:pPr>
            <a:r>
              <a:rPr lang="en-US" sz="2000" dirty="0">
                <a:ea typeface="Roboto Condensed" pitchFamily="34" charset="-122"/>
                <a:cs typeface="Roboto Condensed" pitchFamily="34" charset="-120"/>
              </a:rPr>
              <a:t>content strategy insights</a:t>
            </a:r>
            <a:endParaRPr lang="en-US" sz="2000" dirty="0"/>
          </a:p>
        </p:txBody>
      </p:sp>
      <p:pic>
        <p:nvPicPr>
          <p:cNvPr id="7" name="Picture 6" descr="A red letter on a black background&#10;&#10;AI-generated content may be incorrect.">
            <a:extLst>
              <a:ext uri="{FF2B5EF4-FFF2-40B4-BE49-F238E27FC236}">
                <a16:creationId xmlns:a16="http://schemas.microsoft.com/office/drawing/2014/main" id="{D3A52092-339B-EEEB-81CF-E5AD4714FD51}"/>
              </a:ext>
            </a:extLst>
          </p:cNvPr>
          <p:cNvPicPr>
            <a:picLocks noChangeAspect="1"/>
          </p:cNvPicPr>
          <p:nvPr/>
        </p:nvPicPr>
        <p:blipFill>
          <a:blip r:embed="rId3"/>
          <a:srcRect l="10964" r="11989"/>
          <a:stretch>
            <a:fillRect/>
          </a:stretch>
        </p:blipFill>
        <p:spPr>
          <a:xfrm>
            <a:off x="8289758" y="0"/>
            <a:ext cx="6340642"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00407" y="1011909"/>
            <a:ext cx="6914793" cy="599597"/>
          </a:xfrm>
          <a:prstGeom prst="rect">
            <a:avLst/>
          </a:prstGeom>
          <a:noFill/>
          <a:ln/>
        </p:spPr>
        <p:txBody>
          <a:bodyPr wrap="none" lIns="0" tIns="0" rIns="0" bIns="0" rtlCol="0" anchor="t"/>
          <a:lstStyle/>
          <a:p>
            <a:pPr marL="0" indent="0" algn="l">
              <a:lnSpc>
                <a:spcPts val="2800"/>
              </a:lnSpc>
              <a:buNone/>
            </a:pPr>
            <a:r>
              <a:rPr lang="en-US" sz="4400" b="1" dirty="0">
                <a:solidFill>
                  <a:srgbClr val="C00000"/>
                </a:solidFill>
                <a:latin typeface="Arial Black" panose="020B0A04020102020204" pitchFamily="34" charset="0"/>
                <a:ea typeface="Hubot Sans Bold" pitchFamily="34" charset="-122"/>
                <a:cs typeface="Hubot Sans Bold" pitchFamily="34" charset="-120"/>
              </a:rPr>
              <a:t>BUSINESS PROBLEM &amp; OBJECTIVE</a:t>
            </a:r>
            <a:endParaRPr lang="en-US" sz="4400" b="1" dirty="0">
              <a:solidFill>
                <a:srgbClr val="C00000"/>
              </a:solidFill>
              <a:latin typeface="Arial Black" panose="020B0A04020102020204" pitchFamily="34" charset="0"/>
            </a:endParaRPr>
          </a:p>
        </p:txBody>
      </p:sp>
      <p:sp>
        <p:nvSpPr>
          <p:cNvPr id="3" name="Text 1"/>
          <p:cNvSpPr/>
          <p:nvPr/>
        </p:nvSpPr>
        <p:spPr>
          <a:xfrm>
            <a:off x="411777" y="1990136"/>
            <a:ext cx="6971943" cy="599597"/>
          </a:xfrm>
          <a:prstGeom prst="rect">
            <a:avLst/>
          </a:prstGeom>
          <a:noFill/>
          <a:ln/>
        </p:spPr>
        <p:txBody>
          <a:bodyPr wrap="none" lIns="0" tIns="0" rIns="0" bIns="0" rtlCol="0" anchor="t"/>
          <a:lstStyle/>
          <a:p>
            <a:pPr marL="0" indent="0" algn="l">
              <a:lnSpc>
                <a:spcPts val="1650"/>
              </a:lnSpc>
              <a:buNone/>
            </a:pPr>
            <a:r>
              <a:rPr lang="en-US" sz="2400" b="1" dirty="0">
                <a:solidFill>
                  <a:srgbClr val="0C0D0F"/>
                </a:solidFill>
                <a:latin typeface="Arial Black" panose="020B0A04020102020204" pitchFamily="34" charset="0"/>
                <a:ea typeface="Hubot Sans Bold" pitchFamily="34" charset="-122"/>
                <a:cs typeface="Hubot Sans Bold" pitchFamily="34" charset="-120"/>
              </a:rPr>
              <a:t>WHY  CONTENT  ANALYTICS  MATTERS ?</a:t>
            </a:r>
            <a:endParaRPr lang="en-US" sz="2400" dirty="0">
              <a:latin typeface="Arial Black" panose="020B0A04020102020204" pitchFamily="34" charset="0"/>
            </a:endParaRPr>
          </a:p>
        </p:txBody>
      </p:sp>
      <p:sp>
        <p:nvSpPr>
          <p:cNvPr id="4" name="Text 2"/>
          <p:cNvSpPr/>
          <p:nvPr/>
        </p:nvSpPr>
        <p:spPr>
          <a:xfrm>
            <a:off x="428921" y="2347175"/>
            <a:ext cx="13801071" cy="1535943"/>
          </a:xfrm>
          <a:prstGeom prst="rect">
            <a:avLst/>
          </a:prstGeom>
          <a:noFill/>
          <a:ln/>
        </p:spPr>
        <p:txBody>
          <a:bodyPr wrap="square" lIns="0" tIns="0" rIns="0" bIns="0" rtlCol="0" anchor="t"/>
          <a:lstStyle/>
          <a:p>
            <a:pPr marL="0" indent="0" algn="l">
              <a:buNone/>
            </a:pPr>
            <a:r>
              <a:rPr lang="en-US" sz="2400" dirty="0">
                <a:solidFill>
                  <a:srgbClr val="55575A"/>
                </a:solidFill>
                <a:ea typeface="Roboto Condensed" pitchFamily="34" charset="-122"/>
                <a:cs typeface="Roboto Condensed" pitchFamily="34" charset="-120"/>
              </a:rPr>
              <a:t>In the fiercely competitive OTT landscape, understanding content composition and performance is critical. Strategic decisions around content acquisition, production, and localisation rely on data-driven insights to optimise subscriber engagement and retention.</a:t>
            </a:r>
            <a:endParaRPr lang="en-US" sz="2400" dirty="0"/>
          </a:p>
        </p:txBody>
      </p:sp>
      <p:grpSp>
        <p:nvGrpSpPr>
          <p:cNvPr id="34" name="Group 33">
            <a:extLst>
              <a:ext uri="{FF2B5EF4-FFF2-40B4-BE49-F238E27FC236}">
                <a16:creationId xmlns:a16="http://schemas.microsoft.com/office/drawing/2014/main" id="{E82087CE-6882-568B-7812-3A3E78CE370E}"/>
              </a:ext>
            </a:extLst>
          </p:cNvPr>
          <p:cNvGrpSpPr/>
          <p:nvPr/>
        </p:nvGrpSpPr>
        <p:grpSpPr>
          <a:xfrm>
            <a:off x="400407" y="3982308"/>
            <a:ext cx="13829586" cy="3264103"/>
            <a:chOff x="343257" y="4422378"/>
            <a:chExt cx="13829586" cy="2304611"/>
          </a:xfrm>
        </p:grpSpPr>
        <p:sp>
          <p:nvSpPr>
            <p:cNvPr id="8" name="Shape 5"/>
            <p:cNvSpPr/>
            <p:nvPr/>
          </p:nvSpPr>
          <p:spPr>
            <a:xfrm>
              <a:off x="3600390" y="4453881"/>
              <a:ext cx="343138" cy="343138"/>
            </a:xfrm>
            <a:prstGeom prst="roundRect">
              <a:avLst>
                <a:gd name="adj" fmla="val 266482"/>
              </a:avLst>
            </a:prstGeom>
            <a:solidFill>
              <a:srgbClr val="C8CAC1">
                <a:alpha val="50000"/>
              </a:srgbClr>
            </a:solidFill>
            <a:ln/>
          </p:spPr>
          <p:txBody>
            <a:bodyPr/>
            <a:lstStyle/>
            <a:p>
              <a:endParaRPr lang="en-US" sz="2000"/>
            </a:p>
          </p:txBody>
        </p:sp>
        <p:sp>
          <p:nvSpPr>
            <p:cNvPr id="14" name="Shape 11"/>
            <p:cNvSpPr/>
            <p:nvPr/>
          </p:nvSpPr>
          <p:spPr>
            <a:xfrm>
              <a:off x="10572333" y="4422378"/>
              <a:ext cx="343138" cy="343138"/>
            </a:xfrm>
            <a:prstGeom prst="roundRect">
              <a:avLst>
                <a:gd name="adj" fmla="val 266482"/>
              </a:avLst>
            </a:prstGeom>
            <a:solidFill>
              <a:srgbClr val="C8CAC1">
                <a:alpha val="50000"/>
              </a:srgbClr>
            </a:solidFill>
            <a:ln/>
          </p:spPr>
          <p:txBody>
            <a:bodyPr/>
            <a:lstStyle/>
            <a:p>
              <a:endParaRPr lang="en-US" sz="2000"/>
            </a:p>
          </p:txBody>
        </p:sp>
        <p:sp>
          <p:nvSpPr>
            <p:cNvPr id="6" name="Shape 3"/>
            <p:cNvSpPr/>
            <p:nvPr/>
          </p:nvSpPr>
          <p:spPr>
            <a:xfrm>
              <a:off x="343257" y="4611394"/>
              <a:ext cx="6857643" cy="968313"/>
            </a:xfrm>
            <a:prstGeom prst="roundRect">
              <a:avLst>
                <a:gd name="adj" fmla="val 8649"/>
              </a:avLst>
            </a:prstGeom>
            <a:solidFill>
              <a:srgbClr val="E8E8E3"/>
            </a:solidFill>
            <a:ln/>
          </p:spPr>
          <p:txBody>
            <a:bodyPr/>
            <a:lstStyle/>
            <a:p>
              <a:endParaRPr lang="en-US" sz="4000"/>
            </a:p>
          </p:txBody>
        </p:sp>
        <p:sp>
          <p:nvSpPr>
            <p:cNvPr id="7" name="Shape 4"/>
            <p:cNvSpPr/>
            <p:nvPr/>
          </p:nvSpPr>
          <p:spPr>
            <a:xfrm>
              <a:off x="343257" y="4593947"/>
              <a:ext cx="6857643" cy="69788"/>
            </a:xfrm>
            <a:prstGeom prst="roundRect">
              <a:avLst>
                <a:gd name="adj" fmla="val 28154"/>
              </a:avLst>
            </a:prstGeom>
            <a:solidFill>
              <a:srgbClr val="C8CAC1"/>
            </a:solidFill>
            <a:ln/>
          </p:spPr>
          <p:txBody>
            <a:bodyPr/>
            <a:lstStyle/>
            <a:p>
              <a:endParaRPr lang="en-US" sz="4000"/>
            </a:p>
          </p:txBody>
        </p:sp>
        <p:sp>
          <p:nvSpPr>
            <p:cNvPr id="9" name="Text 6"/>
            <p:cNvSpPr/>
            <p:nvPr/>
          </p:nvSpPr>
          <p:spPr>
            <a:xfrm>
              <a:off x="3703320" y="4513118"/>
              <a:ext cx="137279" cy="196416"/>
            </a:xfrm>
            <a:prstGeom prst="rect">
              <a:avLst/>
            </a:prstGeom>
            <a:noFill/>
            <a:ln/>
          </p:spPr>
          <p:txBody>
            <a:bodyPr wrap="none" lIns="0" tIns="0" rIns="0" bIns="0" rtlCol="0" anchor="t"/>
            <a:lstStyle/>
            <a:p>
              <a:pPr marL="0" indent="0" algn="l">
                <a:lnSpc>
                  <a:spcPts val="1700"/>
                </a:lnSpc>
                <a:buNone/>
              </a:pPr>
              <a:r>
                <a:rPr lang="en-US" sz="2000" b="1" dirty="0">
                  <a:solidFill>
                    <a:srgbClr val="000000"/>
                  </a:solidFill>
                  <a:latin typeface="Hubot Sans Bold" pitchFamily="34" charset="0"/>
                  <a:ea typeface="Hubot Sans Bold" pitchFamily="34" charset="-122"/>
                  <a:cs typeface="Hubot Sans Bold" pitchFamily="34" charset="-120"/>
                </a:rPr>
                <a:t>1</a:t>
              </a:r>
              <a:endParaRPr lang="en-US" sz="2000" dirty="0"/>
            </a:p>
          </p:txBody>
        </p:sp>
        <p:sp>
          <p:nvSpPr>
            <p:cNvPr id="10" name="Text 7"/>
            <p:cNvSpPr/>
            <p:nvPr/>
          </p:nvSpPr>
          <p:spPr>
            <a:xfrm>
              <a:off x="472797" y="4912085"/>
              <a:ext cx="3657243" cy="231310"/>
            </a:xfrm>
            <a:prstGeom prst="rect">
              <a:avLst/>
            </a:prstGeom>
            <a:noFill/>
            <a:ln/>
          </p:spPr>
          <p:txBody>
            <a:bodyPr wrap="none" lIns="0" tIns="0" rIns="0" bIns="0" rtlCol="0" anchor="t"/>
            <a:lstStyle/>
            <a:p>
              <a:pPr marL="0" indent="0" algn="l">
                <a:lnSpc>
                  <a:spcPts val="1400"/>
                </a:lnSpc>
                <a:buNone/>
              </a:pPr>
              <a:r>
                <a:rPr lang="en-US" sz="2200" b="1" dirty="0">
                  <a:latin typeface="Arial Black" panose="020B0A04020102020204" pitchFamily="34" charset="0"/>
                  <a:ea typeface="Hubot Sans Bold" pitchFamily="34" charset="-122"/>
                  <a:cs typeface="Hubot Sans Bold" pitchFamily="34" charset="-120"/>
                </a:rPr>
                <a:t>CONTENT COMPOSITION</a:t>
              </a:r>
              <a:endParaRPr lang="en-US" sz="2200" dirty="0">
                <a:latin typeface="Arial Black" panose="020B0A04020102020204" pitchFamily="34" charset="0"/>
              </a:endParaRPr>
            </a:p>
          </p:txBody>
        </p:sp>
        <p:sp>
          <p:nvSpPr>
            <p:cNvPr id="11" name="Text 8"/>
            <p:cNvSpPr/>
            <p:nvPr/>
          </p:nvSpPr>
          <p:spPr>
            <a:xfrm>
              <a:off x="472797" y="5221906"/>
              <a:ext cx="6598563" cy="209501"/>
            </a:xfrm>
            <a:prstGeom prst="rect">
              <a:avLst/>
            </a:prstGeom>
            <a:noFill/>
            <a:ln/>
          </p:spPr>
          <p:txBody>
            <a:bodyPr wrap="none" lIns="0" tIns="0" rIns="0" bIns="0" rtlCol="0" anchor="t"/>
            <a:lstStyle/>
            <a:p>
              <a:pPr marL="0" indent="0" algn="l">
                <a:lnSpc>
                  <a:spcPts val="1400"/>
                </a:lnSpc>
                <a:buNone/>
              </a:pPr>
              <a:r>
                <a:rPr lang="en-US" dirty="0">
                  <a:ea typeface="Roboto Condensed" pitchFamily="34" charset="-122"/>
                  <a:cs typeface="Roboto Condensed" pitchFamily="34" charset="-120"/>
                </a:rPr>
                <a:t>Analyse the balance between movies and TV shows in Netflix's catalogue</a:t>
              </a:r>
              <a:endParaRPr lang="en-US" dirty="0"/>
            </a:p>
          </p:txBody>
        </p:sp>
        <p:sp>
          <p:nvSpPr>
            <p:cNvPr id="12" name="Shape 9"/>
            <p:cNvSpPr/>
            <p:nvPr/>
          </p:nvSpPr>
          <p:spPr>
            <a:xfrm>
              <a:off x="7315200" y="4611394"/>
              <a:ext cx="6857643" cy="968313"/>
            </a:xfrm>
            <a:prstGeom prst="roundRect">
              <a:avLst>
                <a:gd name="adj" fmla="val 8649"/>
              </a:avLst>
            </a:prstGeom>
            <a:solidFill>
              <a:srgbClr val="E8E8E3"/>
            </a:solidFill>
            <a:ln/>
          </p:spPr>
          <p:txBody>
            <a:bodyPr/>
            <a:lstStyle/>
            <a:p>
              <a:endParaRPr lang="en-US" sz="4000"/>
            </a:p>
          </p:txBody>
        </p:sp>
        <p:sp>
          <p:nvSpPr>
            <p:cNvPr id="13" name="Shape 10"/>
            <p:cNvSpPr/>
            <p:nvPr/>
          </p:nvSpPr>
          <p:spPr>
            <a:xfrm>
              <a:off x="7315200" y="4593947"/>
              <a:ext cx="6857643" cy="69788"/>
            </a:xfrm>
            <a:prstGeom prst="roundRect">
              <a:avLst>
                <a:gd name="adj" fmla="val 28154"/>
              </a:avLst>
            </a:prstGeom>
            <a:solidFill>
              <a:srgbClr val="C8CAC1"/>
            </a:solidFill>
            <a:ln/>
          </p:spPr>
          <p:txBody>
            <a:bodyPr/>
            <a:lstStyle/>
            <a:p>
              <a:endParaRPr lang="en-US" sz="4000"/>
            </a:p>
          </p:txBody>
        </p:sp>
        <p:sp>
          <p:nvSpPr>
            <p:cNvPr id="15" name="Text 12"/>
            <p:cNvSpPr/>
            <p:nvPr/>
          </p:nvSpPr>
          <p:spPr>
            <a:xfrm>
              <a:off x="10675263" y="4513118"/>
              <a:ext cx="137279" cy="196416"/>
            </a:xfrm>
            <a:prstGeom prst="rect">
              <a:avLst/>
            </a:prstGeom>
            <a:noFill/>
            <a:ln/>
          </p:spPr>
          <p:txBody>
            <a:bodyPr wrap="none" lIns="0" tIns="0" rIns="0" bIns="0" rtlCol="0" anchor="t"/>
            <a:lstStyle/>
            <a:p>
              <a:pPr marL="0" indent="0" algn="l">
                <a:lnSpc>
                  <a:spcPts val="1700"/>
                </a:lnSpc>
                <a:buNone/>
              </a:pPr>
              <a:r>
                <a:rPr lang="en-US" sz="2000" b="1" dirty="0">
                  <a:solidFill>
                    <a:srgbClr val="000000"/>
                  </a:solidFill>
                  <a:latin typeface="Hubot Sans Bold" pitchFamily="34" charset="0"/>
                  <a:ea typeface="Hubot Sans Bold" pitchFamily="34" charset="-122"/>
                  <a:cs typeface="Hubot Sans Bold" pitchFamily="34" charset="-120"/>
                </a:rPr>
                <a:t>2</a:t>
              </a:r>
              <a:endParaRPr lang="en-US" sz="2000" dirty="0"/>
            </a:p>
          </p:txBody>
        </p:sp>
        <p:sp>
          <p:nvSpPr>
            <p:cNvPr id="16" name="Text 13"/>
            <p:cNvSpPr/>
            <p:nvPr/>
          </p:nvSpPr>
          <p:spPr>
            <a:xfrm>
              <a:off x="7444740" y="4938799"/>
              <a:ext cx="1806535" cy="204595"/>
            </a:xfrm>
            <a:prstGeom prst="rect">
              <a:avLst/>
            </a:prstGeom>
            <a:noFill/>
            <a:ln/>
          </p:spPr>
          <p:txBody>
            <a:bodyPr wrap="none" lIns="0" tIns="0" rIns="0" bIns="0" rtlCol="0" anchor="t"/>
            <a:lstStyle/>
            <a:p>
              <a:pPr marL="0" indent="0" algn="l">
                <a:lnSpc>
                  <a:spcPts val="1400"/>
                </a:lnSpc>
                <a:buNone/>
              </a:pPr>
              <a:r>
                <a:rPr lang="en-US" sz="2200" b="1" dirty="0">
                  <a:latin typeface="Arial Black" panose="020B0A04020102020204" pitchFamily="34" charset="0"/>
                  <a:ea typeface="Hubot Sans Bold" pitchFamily="34" charset="-122"/>
                  <a:cs typeface="Hubot Sans Bold" pitchFamily="34" charset="-120"/>
                </a:rPr>
                <a:t>TEMPORAL EVOLUTION</a:t>
              </a:r>
              <a:endParaRPr lang="en-US" sz="2200" dirty="0">
                <a:latin typeface="Arial Black" panose="020B0A04020102020204" pitchFamily="34" charset="0"/>
              </a:endParaRPr>
            </a:p>
          </p:txBody>
        </p:sp>
        <p:sp>
          <p:nvSpPr>
            <p:cNvPr id="17" name="Text 14"/>
            <p:cNvSpPr/>
            <p:nvPr/>
          </p:nvSpPr>
          <p:spPr>
            <a:xfrm>
              <a:off x="7444740" y="5221906"/>
              <a:ext cx="6598563" cy="209501"/>
            </a:xfrm>
            <a:prstGeom prst="rect">
              <a:avLst/>
            </a:prstGeom>
            <a:noFill/>
            <a:ln/>
          </p:spPr>
          <p:txBody>
            <a:bodyPr wrap="none" lIns="0" tIns="0" rIns="0" bIns="0" rtlCol="0" anchor="t"/>
            <a:lstStyle/>
            <a:p>
              <a:pPr marL="0" indent="0" algn="l">
                <a:lnSpc>
                  <a:spcPts val="1400"/>
                </a:lnSpc>
                <a:buNone/>
              </a:pPr>
              <a:r>
                <a:rPr lang="en-US" dirty="0">
                  <a:ea typeface="Roboto Condensed" pitchFamily="34" charset="-122"/>
                  <a:cs typeface="Roboto Condensed" pitchFamily="34" charset="-120"/>
                </a:rPr>
                <a:t>Track how Netflix's content </a:t>
              </a:r>
              <a:r>
                <a:rPr lang="en-US" sz="2000" dirty="0">
                  <a:ea typeface="Roboto Condensed" pitchFamily="34" charset="-122"/>
                  <a:cs typeface="Roboto Condensed" pitchFamily="34" charset="-120"/>
                </a:rPr>
                <a:t>strategy</a:t>
              </a:r>
              <a:r>
                <a:rPr lang="en-US" dirty="0">
                  <a:ea typeface="Roboto Condensed" pitchFamily="34" charset="-122"/>
                  <a:cs typeface="Roboto Condensed" pitchFamily="34" charset="-120"/>
                </a:rPr>
                <a:t> has shifted over time</a:t>
              </a:r>
              <a:endParaRPr lang="en-US" dirty="0"/>
            </a:p>
          </p:txBody>
        </p:sp>
        <p:sp>
          <p:nvSpPr>
            <p:cNvPr id="19" name="Shape 16"/>
            <p:cNvSpPr/>
            <p:nvPr/>
          </p:nvSpPr>
          <p:spPr>
            <a:xfrm>
              <a:off x="343257" y="5889529"/>
              <a:ext cx="6857643" cy="69788"/>
            </a:xfrm>
            <a:prstGeom prst="roundRect">
              <a:avLst>
                <a:gd name="adj" fmla="val 28154"/>
              </a:avLst>
            </a:prstGeom>
            <a:solidFill>
              <a:srgbClr val="C8CAC1"/>
            </a:solidFill>
            <a:ln/>
          </p:spPr>
          <p:txBody>
            <a:bodyPr/>
            <a:lstStyle/>
            <a:p>
              <a:endParaRPr lang="en-US" sz="4000"/>
            </a:p>
          </p:txBody>
        </p:sp>
        <p:sp>
          <p:nvSpPr>
            <p:cNvPr id="20" name="Shape 17"/>
            <p:cNvSpPr/>
            <p:nvPr/>
          </p:nvSpPr>
          <p:spPr>
            <a:xfrm>
              <a:off x="3600450" y="5710560"/>
              <a:ext cx="343138" cy="392832"/>
            </a:xfrm>
            <a:prstGeom prst="roundRect">
              <a:avLst>
                <a:gd name="adj" fmla="val 266482"/>
              </a:avLst>
            </a:prstGeom>
            <a:solidFill>
              <a:srgbClr val="C8CAC1">
                <a:alpha val="50000"/>
              </a:srgbClr>
            </a:solidFill>
            <a:ln/>
          </p:spPr>
          <p:txBody>
            <a:bodyPr/>
            <a:lstStyle/>
            <a:p>
              <a:endParaRPr lang="en-US" sz="4000"/>
            </a:p>
          </p:txBody>
        </p:sp>
        <p:sp>
          <p:nvSpPr>
            <p:cNvPr id="21" name="Text 18"/>
            <p:cNvSpPr/>
            <p:nvPr/>
          </p:nvSpPr>
          <p:spPr>
            <a:xfrm>
              <a:off x="3703320" y="5808700"/>
              <a:ext cx="137279" cy="196416"/>
            </a:xfrm>
            <a:prstGeom prst="rect">
              <a:avLst/>
            </a:prstGeom>
            <a:noFill/>
            <a:ln/>
          </p:spPr>
          <p:txBody>
            <a:bodyPr wrap="none" lIns="0" tIns="0" rIns="0" bIns="0" rtlCol="0" anchor="t"/>
            <a:lstStyle/>
            <a:p>
              <a:pPr marL="0" indent="0" algn="l">
                <a:lnSpc>
                  <a:spcPts val="1700"/>
                </a:lnSpc>
                <a:buNone/>
              </a:pPr>
              <a:r>
                <a:rPr lang="en-US" sz="2000" b="1" dirty="0">
                  <a:solidFill>
                    <a:srgbClr val="000000"/>
                  </a:solidFill>
                  <a:latin typeface="Hubot Sans Bold" pitchFamily="34" charset="0"/>
                  <a:ea typeface="Hubot Sans Bold" pitchFamily="34" charset="-122"/>
                  <a:cs typeface="Hubot Sans Bold" pitchFamily="34" charset="-120"/>
                </a:rPr>
                <a:t>3</a:t>
              </a:r>
              <a:endParaRPr lang="en-US" sz="2000" dirty="0"/>
            </a:p>
          </p:txBody>
        </p:sp>
        <p:sp>
          <p:nvSpPr>
            <p:cNvPr id="22" name="Text 19"/>
            <p:cNvSpPr/>
            <p:nvPr/>
          </p:nvSpPr>
          <p:spPr>
            <a:xfrm>
              <a:off x="472797" y="6234381"/>
              <a:ext cx="2539246" cy="204595"/>
            </a:xfrm>
            <a:prstGeom prst="rect">
              <a:avLst/>
            </a:prstGeom>
            <a:noFill/>
            <a:ln/>
          </p:spPr>
          <p:txBody>
            <a:bodyPr wrap="none" lIns="0" tIns="0" rIns="0" bIns="0" rtlCol="0" anchor="t"/>
            <a:lstStyle/>
            <a:p>
              <a:pPr marL="0" indent="0" algn="l">
                <a:lnSpc>
                  <a:spcPts val="1400"/>
                </a:lnSpc>
                <a:buNone/>
              </a:pPr>
              <a:r>
                <a:rPr lang="en-US" sz="2200" b="1" dirty="0">
                  <a:latin typeface="Arial Black" panose="020B0A04020102020204" pitchFamily="34" charset="0"/>
                  <a:ea typeface="Hubot Sans Bold" pitchFamily="34" charset="-122"/>
                  <a:cs typeface="Hubot Sans Bold" pitchFamily="34" charset="-120"/>
                </a:rPr>
                <a:t>GENRE &amp; RATING DISTRIBUTION</a:t>
              </a:r>
              <a:endParaRPr lang="en-US" sz="2200" dirty="0">
                <a:latin typeface="Arial Black" panose="020B0A04020102020204" pitchFamily="34" charset="0"/>
              </a:endParaRPr>
            </a:p>
          </p:txBody>
        </p:sp>
        <p:sp>
          <p:nvSpPr>
            <p:cNvPr id="23" name="Text 20"/>
            <p:cNvSpPr/>
            <p:nvPr/>
          </p:nvSpPr>
          <p:spPr>
            <a:xfrm>
              <a:off x="472797" y="6517488"/>
              <a:ext cx="6598563" cy="209501"/>
            </a:xfrm>
            <a:prstGeom prst="rect">
              <a:avLst/>
            </a:prstGeom>
            <a:noFill/>
            <a:ln/>
          </p:spPr>
          <p:txBody>
            <a:bodyPr wrap="none" lIns="0" tIns="0" rIns="0" bIns="0" rtlCol="0" anchor="t"/>
            <a:lstStyle/>
            <a:p>
              <a:pPr marL="0" indent="0" algn="l">
                <a:lnSpc>
                  <a:spcPts val="1400"/>
                </a:lnSpc>
                <a:buNone/>
              </a:pPr>
              <a:r>
                <a:rPr lang="en-US" dirty="0">
                  <a:ea typeface="Roboto Condensed" pitchFamily="34" charset="-122"/>
                  <a:cs typeface="Roboto Condensed" pitchFamily="34" charset="-120"/>
                </a:rPr>
                <a:t>Identify which genres and ratings dominate the platform</a:t>
              </a:r>
              <a:endParaRPr lang="en-US" dirty="0"/>
            </a:p>
          </p:txBody>
        </p:sp>
        <p:sp>
          <p:nvSpPr>
            <p:cNvPr id="25" name="Shape 22"/>
            <p:cNvSpPr/>
            <p:nvPr/>
          </p:nvSpPr>
          <p:spPr>
            <a:xfrm>
              <a:off x="7315200" y="5889529"/>
              <a:ext cx="6857643" cy="69788"/>
            </a:xfrm>
            <a:prstGeom prst="roundRect">
              <a:avLst>
                <a:gd name="adj" fmla="val 28154"/>
              </a:avLst>
            </a:prstGeom>
            <a:solidFill>
              <a:srgbClr val="C8CAC1"/>
            </a:solidFill>
            <a:ln/>
          </p:spPr>
          <p:txBody>
            <a:bodyPr/>
            <a:lstStyle/>
            <a:p>
              <a:endParaRPr lang="en-US" sz="4000"/>
            </a:p>
          </p:txBody>
        </p:sp>
        <p:sp>
          <p:nvSpPr>
            <p:cNvPr id="26" name="Shape 23"/>
            <p:cNvSpPr/>
            <p:nvPr/>
          </p:nvSpPr>
          <p:spPr>
            <a:xfrm>
              <a:off x="10572393" y="5710560"/>
              <a:ext cx="343138" cy="392832"/>
            </a:xfrm>
            <a:prstGeom prst="roundRect">
              <a:avLst>
                <a:gd name="adj" fmla="val 266482"/>
              </a:avLst>
            </a:prstGeom>
            <a:solidFill>
              <a:srgbClr val="C8CAC1">
                <a:alpha val="50000"/>
              </a:srgbClr>
            </a:solidFill>
            <a:ln/>
          </p:spPr>
          <p:txBody>
            <a:bodyPr/>
            <a:lstStyle/>
            <a:p>
              <a:endParaRPr lang="en-US" sz="4000"/>
            </a:p>
          </p:txBody>
        </p:sp>
        <p:sp>
          <p:nvSpPr>
            <p:cNvPr id="27" name="Text 24"/>
            <p:cNvSpPr/>
            <p:nvPr/>
          </p:nvSpPr>
          <p:spPr>
            <a:xfrm>
              <a:off x="10675263" y="5808700"/>
              <a:ext cx="137279" cy="196416"/>
            </a:xfrm>
            <a:prstGeom prst="rect">
              <a:avLst/>
            </a:prstGeom>
            <a:noFill/>
            <a:ln/>
          </p:spPr>
          <p:txBody>
            <a:bodyPr wrap="none" lIns="0" tIns="0" rIns="0" bIns="0" rtlCol="0" anchor="t"/>
            <a:lstStyle/>
            <a:p>
              <a:pPr marL="0" indent="0" algn="l">
                <a:lnSpc>
                  <a:spcPts val="1700"/>
                </a:lnSpc>
                <a:buNone/>
              </a:pPr>
              <a:r>
                <a:rPr lang="en-US" sz="2000" b="1" dirty="0">
                  <a:solidFill>
                    <a:srgbClr val="000000"/>
                  </a:solidFill>
                  <a:latin typeface="Hubot Sans Bold" pitchFamily="34" charset="0"/>
                  <a:ea typeface="Hubot Sans Bold" pitchFamily="34" charset="-122"/>
                  <a:cs typeface="Hubot Sans Bold" pitchFamily="34" charset="-120"/>
                </a:rPr>
                <a:t>4</a:t>
              </a:r>
              <a:endParaRPr lang="en-US" sz="2000" dirty="0"/>
            </a:p>
          </p:txBody>
        </p:sp>
        <p:sp>
          <p:nvSpPr>
            <p:cNvPr id="28" name="Text 25"/>
            <p:cNvSpPr/>
            <p:nvPr/>
          </p:nvSpPr>
          <p:spPr>
            <a:xfrm>
              <a:off x="7444740" y="6234381"/>
              <a:ext cx="1899285" cy="204595"/>
            </a:xfrm>
            <a:prstGeom prst="rect">
              <a:avLst/>
            </a:prstGeom>
            <a:noFill/>
            <a:ln/>
          </p:spPr>
          <p:txBody>
            <a:bodyPr wrap="none" lIns="0" tIns="0" rIns="0" bIns="0" rtlCol="0" anchor="t"/>
            <a:lstStyle/>
            <a:p>
              <a:pPr marL="0" indent="0" algn="l">
                <a:lnSpc>
                  <a:spcPts val="1400"/>
                </a:lnSpc>
                <a:buNone/>
              </a:pPr>
              <a:r>
                <a:rPr lang="en-US" sz="2200" b="1" dirty="0">
                  <a:latin typeface="Arial Black" panose="020B0A04020102020204" pitchFamily="34" charset="0"/>
                  <a:ea typeface="Hubot Sans Bold" pitchFamily="34" charset="-122"/>
                  <a:cs typeface="Hubot Sans Bold" pitchFamily="34" charset="-120"/>
                </a:rPr>
                <a:t>GEOGRAPHIC INSIGHTS</a:t>
              </a:r>
              <a:endParaRPr lang="en-US" sz="2200" dirty="0">
                <a:latin typeface="Arial Black" panose="020B0A04020102020204" pitchFamily="34" charset="0"/>
              </a:endParaRPr>
            </a:p>
          </p:txBody>
        </p:sp>
        <p:sp>
          <p:nvSpPr>
            <p:cNvPr id="29" name="Text 26"/>
            <p:cNvSpPr/>
            <p:nvPr/>
          </p:nvSpPr>
          <p:spPr>
            <a:xfrm>
              <a:off x="7444740" y="6517488"/>
              <a:ext cx="6598563" cy="209501"/>
            </a:xfrm>
            <a:prstGeom prst="rect">
              <a:avLst/>
            </a:prstGeom>
            <a:noFill/>
            <a:ln/>
          </p:spPr>
          <p:txBody>
            <a:bodyPr wrap="none" lIns="0" tIns="0" rIns="0" bIns="0" rtlCol="0" anchor="t"/>
            <a:lstStyle/>
            <a:p>
              <a:pPr marL="0" indent="0" algn="l">
                <a:lnSpc>
                  <a:spcPts val="1400"/>
                </a:lnSpc>
                <a:buNone/>
              </a:pPr>
              <a:r>
                <a:rPr lang="en-US" dirty="0">
                  <a:ea typeface="Roboto Condensed" pitchFamily="34" charset="-122"/>
                  <a:cs typeface="Roboto Condensed" pitchFamily="34" charset="-120"/>
                </a:rPr>
                <a:t>Determine which countries drive Netflix's content catalogue</a:t>
              </a:r>
              <a:endParaRPr lang="en-US" dirty="0"/>
            </a:p>
          </p:txBody>
        </p:sp>
      </p:grpSp>
      <p:sp>
        <p:nvSpPr>
          <p:cNvPr id="33" name="Rectangle 32">
            <a:extLst>
              <a:ext uri="{FF2B5EF4-FFF2-40B4-BE49-F238E27FC236}">
                <a16:creationId xmlns:a16="http://schemas.microsoft.com/office/drawing/2014/main" id="{8BDE1A67-07D1-007B-20D0-351E8D5C3E21}"/>
              </a:ext>
            </a:extLst>
          </p:cNvPr>
          <p:cNvSpPr/>
          <p:nvPr/>
        </p:nvSpPr>
        <p:spPr>
          <a:xfrm>
            <a:off x="12298680" y="7406640"/>
            <a:ext cx="2331720" cy="768412"/>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944166"/>
            <a:ext cx="1421249" cy="426244"/>
          </a:xfrm>
          <a:prstGeom prst="roundRect">
            <a:avLst>
              <a:gd name="adj" fmla="val 6386"/>
            </a:avLst>
          </a:prstGeom>
          <a:solidFill>
            <a:srgbClr val="E7E7E4"/>
          </a:solidFill>
          <a:ln/>
        </p:spPr>
        <p:txBody>
          <a:bodyPr/>
          <a:lstStyle/>
          <a:p>
            <a:endParaRPr lang="en-US"/>
          </a:p>
        </p:txBody>
      </p:sp>
      <p:sp>
        <p:nvSpPr>
          <p:cNvPr id="3" name="Text 1"/>
          <p:cNvSpPr/>
          <p:nvPr/>
        </p:nvSpPr>
        <p:spPr>
          <a:xfrm>
            <a:off x="793790" y="998875"/>
            <a:ext cx="1149072" cy="290274"/>
          </a:xfrm>
          <a:prstGeom prst="rect">
            <a:avLst/>
          </a:prstGeom>
          <a:noFill/>
          <a:ln/>
        </p:spPr>
        <p:txBody>
          <a:bodyPr wrap="none" lIns="0" tIns="0" rIns="0" bIns="0" rtlCol="0" anchor="t"/>
          <a:lstStyle/>
          <a:p>
            <a:pPr marL="0" indent="0" algn="l">
              <a:lnSpc>
                <a:spcPts val="2250"/>
              </a:lnSpc>
              <a:buNone/>
            </a:pPr>
            <a:r>
              <a:rPr lang="en-US" dirty="0">
                <a:latin typeface="Arial Black" panose="020B0A04020102020204" pitchFamily="34" charset="0"/>
                <a:ea typeface="Roboto Condensed" pitchFamily="34" charset="-122"/>
                <a:cs typeface="Roboto Condensed" pitchFamily="34" charset="-120"/>
              </a:rPr>
              <a:t>METHODOLOGY</a:t>
            </a:r>
            <a:endParaRPr lang="en-US" dirty="0">
              <a:latin typeface="Arial Black" panose="020B0A04020102020204" pitchFamily="34" charset="0"/>
            </a:endParaRPr>
          </a:p>
        </p:txBody>
      </p:sp>
      <p:sp>
        <p:nvSpPr>
          <p:cNvPr id="4" name="Text 2"/>
          <p:cNvSpPr/>
          <p:nvPr/>
        </p:nvSpPr>
        <p:spPr>
          <a:xfrm>
            <a:off x="793790" y="1461135"/>
            <a:ext cx="10132457" cy="708779"/>
          </a:xfrm>
          <a:prstGeom prst="rect">
            <a:avLst/>
          </a:prstGeom>
          <a:noFill/>
          <a:ln/>
        </p:spPr>
        <p:txBody>
          <a:bodyPr wrap="none" lIns="0" tIns="0" rIns="0" bIns="0" rtlCol="0" anchor="t"/>
          <a:lstStyle/>
          <a:p>
            <a:pPr marL="0" indent="0" algn="l">
              <a:lnSpc>
                <a:spcPts val="5550"/>
              </a:lnSpc>
              <a:buNone/>
            </a:pPr>
            <a:r>
              <a:rPr lang="en-US" sz="4800" b="1" dirty="0">
                <a:solidFill>
                  <a:srgbClr val="C00000"/>
                </a:solidFill>
                <a:latin typeface="Arial Black" panose="020B0A04020102020204" pitchFamily="34" charset="0"/>
                <a:ea typeface="Hubot Sans Bold" pitchFamily="34" charset="-122"/>
                <a:cs typeface="Hubot Sans Bold" pitchFamily="34" charset="-120"/>
              </a:rPr>
              <a:t>TOOLS &amp; END-TO-END WORKFLOW</a:t>
            </a:r>
            <a:endParaRPr lang="en-US" sz="4800" dirty="0">
              <a:solidFill>
                <a:srgbClr val="C00000"/>
              </a:solidFill>
              <a:latin typeface="Arial Black" panose="020B0A04020102020204" pitchFamily="34" charset="0"/>
            </a:endParaRPr>
          </a:p>
        </p:txBody>
      </p:sp>
      <p:sp>
        <p:nvSpPr>
          <p:cNvPr id="5" name="Text 3"/>
          <p:cNvSpPr/>
          <p:nvPr/>
        </p:nvSpPr>
        <p:spPr>
          <a:xfrm>
            <a:off x="793790" y="2510076"/>
            <a:ext cx="226814" cy="283488"/>
          </a:xfrm>
          <a:prstGeom prst="rect">
            <a:avLst/>
          </a:prstGeom>
          <a:noFill/>
          <a:ln/>
        </p:spPr>
        <p:txBody>
          <a:bodyPr wrap="none" lIns="0" tIns="0" rIns="0" bIns="0" rtlCol="0" anchor="t"/>
          <a:lstStyle/>
          <a:p>
            <a:pPr marL="0" indent="0" algn="l">
              <a:lnSpc>
                <a:spcPts val="2850"/>
              </a:lnSpc>
              <a:buNone/>
            </a:pPr>
            <a:r>
              <a:rPr lang="en-US" dirty="0">
                <a:ea typeface="Hubot Sans Light" pitchFamily="34" charset="-122"/>
                <a:cs typeface="Hubot Sans Light" pitchFamily="34" charset="-120"/>
              </a:rPr>
              <a:t>01</a:t>
            </a:r>
            <a:endParaRPr lang="en-US" dirty="0"/>
          </a:p>
        </p:txBody>
      </p:sp>
      <p:sp>
        <p:nvSpPr>
          <p:cNvPr id="6" name="Shape 4"/>
          <p:cNvSpPr/>
          <p:nvPr/>
        </p:nvSpPr>
        <p:spPr>
          <a:xfrm>
            <a:off x="793790" y="2865120"/>
            <a:ext cx="4196358" cy="30480"/>
          </a:xfrm>
          <a:prstGeom prst="rect">
            <a:avLst/>
          </a:prstGeom>
          <a:solidFill>
            <a:srgbClr val="C8CAC1"/>
          </a:solidFill>
          <a:ln/>
        </p:spPr>
        <p:txBody>
          <a:bodyPr/>
          <a:lstStyle/>
          <a:p>
            <a:endParaRPr lang="en-US"/>
          </a:p>
        </p:txBody>
      </p:sp>
      <p:sp>
        <p:nvSpPr>
          <p:cNvPr id="7" name="Text 5"/>
          <p:cNvSpPr/>
          <p:nvPr/>
        </p:nvSpPr>
        <p:spPr>
          <a:xfrm>
            <a:off x="793790" y="3039428"/>
            <a:ext cx="2835235" cy="354330"/>
          </a:xfrm>
          <a:prstGeom prst="rect">
            <a:avLst/>
          </a:prstGeom>
          <a:noFill/>
          <a:ln/>
        </p:spPr>
        <p:txBody>
          <a:bodyPr wrap="none" lIns="0" tIns="0" rIns="0" bIns="0" rtlCol="0" anchor="t"/>
          <a:lstStyle/>
          <a:p>
            <a:pPr marL="0" indent="0" algn="l">
              <a:lnSpc>
                <a:spcPts val="2750"/>
              </a:lnSpc>
              <a:buNone/>
            </a:pPr>
            <a:r>
              <a:rPr lang="en-US" sz="2000" b="1" dirty="0">
                <a:latin typeface="Arial Black" panose="020B0A04020102020204" pitchFamily="34" charset="0"/>
                <a:ea typeface="Hubot Sans Bold" pitchFamily="34" charset="-122"/>
                <a:cs typeface="Hubot Sans Bold" pitchFamily="34" charset="-120"/>
              </a:rPr>
              <a:t>DATA SOURCING</a:t>
            </a:r>
            <a:endParaRPr lang="en-US" sz="2000" dirty="0">
              <a:latin typeface="Arial Black" panose="020B0A04020102020204" pitchFamily="34" charset="0"/>
            </a:endParaRPr>
          </a:p>
        </p:txBody>
      </p:sp>
      <p:sp>
        <p:nvSpPr>
          <p:cNvPr id="8" name="Text 6"/>
          <p:cNvSpPr/>
          <p:nvPr/>
        </p:nvSpPr>
        <p:spPr>
          <a:xfrm>
            <a:off x="793790" y="3529846"/>
            <a:ext cx="4196358" cy="1088708"/>
          </a:xfrm>
          <a:prstGeom prst="rect">
            <a:avLst/>
          </a:prstGeom>
          <a:noFill/>
          <a:ln/>
        </p:spPr>
        <p:txBody>
          <a:bodyPr wrap="square" lIns="0" tIns="0" rIns="0" bIns="0" rtlCol="0" anchor="t"/>
          <a:lstStyle/>
          <a:p>
            <a:pPr marL="0" indent="0" algn="l">
              <a:lnSpc>
                <a:spcPts val="2850"/>
              </a:lnSpc>
              <a:buNone/>
            </a:pPr>
            <a:r>
              <a:rPr lang="en-US" dirty="0">
                <a:ea typeface="Roboto Condensed" pitchFamily="34" charset="-122"/>
                <a:cs typeface="Roboto Condensed" pitchFamily="34" charset="-120"/>
              </a:rPr>
              <a:t>Acquired comprehensive Netflix catalogue dataset containing titles, genres, release years, ratings, and geographic information</a:t>
            </a:r>
            <a:endParaRPr lang="en-US" dirty="0"/>
          </a:p>
        </p:txBody>
      </p:sp>
      <p:sp>
        <p:nvSpPr>
          <p:cNvPr id="9" name="Text 7"/>
          <p:cNvSpPr/>
          <p:nvPr/>
        </p:nvSpPr>
        <p:spPr>
          <a:xfrm>
            <a:off x="5216962" y="2510076"/>
            <a:ext cx="226814" cy="283488"/>
          </a:xfrm>
          <a:prstGeom prst="rect">
            <a:avLst/>
          </a:prstGeom>
          <a:noFill/>
          <a:ln/>
        </p:spPr>
        <p:txBody>
          <a:bodyPr wrap="none" lIns="0" tIns="0" rIns="0" bIns="0" rtlCol="0" anchor="t"/>
          <a:lstStyle/>
          <a:p>
            <a:pPr marL="0" indent="0" algn="l">
              <a:lnSpc>
                <a:spcPts val="2850"/>
              </a:lnSpc>
              <a:buNone/>
            </a:pPr>
            <a:r>
              <a:rPr lang="en-US" dirty="0">
                <a:ea typeface="Hubot Sans Light" pitchFamily="34" charset="-122"/>
                <a:cs typeface="Hubot Sans Light" pitchFamily="34" charset="-120"/>
              </a:rPr>
              <a:t>02</a:t>
            </a:r>
            <a:endParaRPr lang="en-US" dirty="0"/>
          </a:p>
        </p:txBody>
      </p:sp>
      <p:sp>
        <p:nvSpPr>
          <p:cNvPr id="10" name="Shape 8"/>
          <p:cNvSpPr/>
          <p:nvPr/>
        </p:nvSpPr>
        <p:spPr>
          <a:xfrm>
            <a:off x="5216962" y="2865120"/>
            <a:ext cx="4196358" cy="30480"/>
          </a:xfrm>
          <a:prstGeom prst="rect">
            <a:avLst/>
          </a:prstGeom>
          <a:solidFill>
            <a:srgbClr val="C8CAC1"/>
          </a:solidFill>
          <a:ln/>
        </p:spPr>
        <p:txBody>
          <a:bodyPr/>
          <a:lstStyle/>
          <a:p>
            <a:endParaRPr lang="en-US"/>
          </a:p>
        </p:txBody>
      </p:sp>
      <p:sp>
        <p:nvSpPr>
          <p:cNvPr id="11" name="Text 9"/>
          <p:cNvSpPr/>
          <p:nvPr/>
        </p:nvSpPr>
        <p:spPr>
          <a:xfrm>
            <a:off x="5216962" y="3039428"/>
            <a:ext cx="4196358" cy="708660"/>
          </a:xfrm>
          <a:prstGeom prst="rect">
            <a:avLst/>
          </a:prstGeom>
          <a:noFill/>
          <a:ln/>
        </p:spPr>
        <p:txBody>
          <a:bodyPr wrap="square" lIns="0" tIns="0" rIns="0" bIns="0" rtlCol="0" anchor="t"/>
          <a:lstStyle/>
          <a:p>
            <a:pPr marL="0" indent="0" algn="l">
              <a:lnSpc>
                <a:spcPts val="2750"/>
              </a:lnSpc>
              <a:buNone/>
            </a:pPr>
            <a:r>
              <a:rPr lang="en-US" sz="2000" b="1" dirty="0">
                <a:latin typeface="Arial Black" panose="020B0A04020102020204" pitchFamily="34" charset="0"/>
                <a:ea typeface="Hubot Sans Bold" pitchFamily="34" charset="-122"/>
                <a:cs typeface="Hubot Sans Bold" pitchFamily="34" charset="-120"/>
              </a:rPr>
              <a:t>DATA CLEANING WITH PYTHON</a:t>
            </a:r>
            <a:endParaRPr lang="en-US" sz="2000" dirty="0">
              <a:latin typeface="Arial Black" panose="020B0A04020102020204" pitchFamily="34" charset="0"/>
            </a:endParaRPr>
          </a:p>
        </p:txBody>
      </p:sp>
      <p:sp>
        <p:nvSpPr>
          <p:cNvPr id="12" name="Text 10"/>
          <p:cNvSpPr/>
          <p:nvPr/>
        </p:nvSpPr>
        <p:spPr>
          <a:xfrm>
            <a:off x="5216962" y="3884176"/>
            <a:ext cx="4196358" cy="1088708"/>
          </a:xfrm>
          <a:prstGeom prst="rect">
            <a:avLst/>
          </a:prstGeom>
          <a:noFill/>
          <a:ln/>
        </p:spPr>
        <p:txBody>
          <a:bodyPr wrap="square" lIns="0" tIns="0" rIns="0" bIns="0" rtlCol="0" anchor="t"/>
          <a:lstStyle/>
          <a:p>
            <a:pPr marL="0" indent="0" algn="l">
              <a:lnSpc>
                <a:spcPts val="2850"/>
              </a:lnSpc>
              <a:buNone/>
            </a:pPr>
            <a:r>
              <a:rPr lang="en-US" dirty="0">
                <a:ea typeface="Roboto Condensed" pitchFamily="34" charset="-122"/>
                <a:cs typeface="Roboto Condensed" pitchFamily="34" charset="-120"/>
              </a:rPr>
              <a:t>Utilised Pandas to handle missing values, standardise formats, and prepare data for analysis</a:t>
            </a:r>
            <a:endParaRPr lang="en-US" dirty="0"/>
          </a:p>
        </p:txBody>
      </p:sp>
      <p:sp>
        <p:nvSpPr>
          <p:cNvPr id="13" name="Text 11"/>
          <p:cNvSpPr/>
          <p:nvPr/>
        </p:nvSpPr>
        <p:spPr>
          <a:xfrm>
            <a:off x="9640133" y="2510076"/>
            <a:ext cx="226814" cy="283488"/>
          </a:xfrm>
          <a:prstGeom prst="rect">
            <a:avLst/>
          </a:prstGeom>
          <a:noFill/>
          <a:ln/>
        </p:spPr>
        <p:txBody>
          <a:bodyPr wrap="none" lIns="0" tIns="0" rIns="0" bIns="0" rtlCol="0" anchor="t"/>
          <a:lstStyle/>
          <a:p>
            <a:pPr marL="0" indent="0" algn="l">
              <a:lnSpc>
                <a:spcPts val="2850"/>
              </a:lnSpc>
              <a:buNone/>
            </a:pPr>
            <a:r>
              <a:rPr lang="en-US" dirty="0">
                <a:ea typeface="Hubot Sans Light" pitchFamily="34" charset="-122"/>
                <a:cs typeface="Hubot Sans Light" pitchFamily="34" charset="-120"/>
              </a:rPr>
              <a:t>03</a:t>
            </a:r>
            <a:endParaRPr lang="en-US" dirty="0"/>
          </a:p>
        </p:txBody>
      </p:sp>
      <p:sp>
        <p:nvSpPr>
          <p:cNvPr id="14" name="Shape 12"/>
          <p:cNvSpPr/>
          <p:nvPr/>
        </p:nvSpPr>
        <p:spPr>
          <a:xfrm>
            <a:off x="9640133" y="2865120"/>
            <a:ext cx="4196358" cy="30480"/>
          </a:xfrm>
          <a:prstGeom prst="rect">
            <a:avLst/>
          </a:prstGeom>
          <a:solidFill>
            <a:srgbClr val="C8CAC1"/>
          </a:solidFill>
          <a:ln/>
        </p:spPr>
        <p:txBody>
          <a:bodyPr/>
          <a:lstStyle/>
          <a:p>
            <a:endParaRPr lang="en-US"/>
          </a:p>
        </p:txBody>
      </p:sp>
      <p:sp>
        <p:nvSpPr>
          <p:cNvPr id="15" name="Text 13"/>
          <p:cNvSpPr/>
          <p:nvPr/>
        </p:nvSpPr>
        <p:spPr>
          <a:xfrm>
            <a:off x="9640133" y="3039428"/>
            <a:ext cx="3877389" cy="354330"/>
          </a:xfrm>
          <a:prstGeom prst="rect">
            <a:avLst/>
          </a:prstGeom>
          <a:noFill/>
          <a:ln/>
        </p:spPr>
        <p:txBody>
          <a:bodyPr wrap="none" lIns="0" tIns="0" rIns="0" bIns="0" rtlCol="0" anchor="t"/>
          <a:lstStyle/>
          <a:p>
            <a:pPr marL="0" indent="0" algn="l">
              <a:lnSpc>
                <a:spcPts val="2750"/>
              </a:lnSpc>
              <a:buNone/>
            </a:pPr>
            <a:r>
              <a:rPr lang="en-US" sz="2000" b="1" dirty="0">
                <a:latin typeface="Arial Black" panose="020B0A04020102020204" pitchFamily="34" charset="0"/>
                <a:ea typeface="Hubot Sans Bold" pitchFamily="34" charset="-122"/>
                <a:cs typeface="Hubot Sans Bold" pitchFamily="34" charset="-120"/>
              </a:rPr>
              <a:t>EXPLORATORY ANALYSIS</a:t>
            </a:r>
            <a:endParaRPr lang="en-US" sz="2000" dirty="0">
              <a:latin typeface="Arial Black" panose="020B0A04020102020204" pitchFamily="34" charset="0"/>
            </a:endParaRPr>
          </a:p>
        </p:txBody>
      </p:sp>
      <p:sp>
        <p:nvSpPr>
          <p:cNvPr id="16" name="Text 14"/>
          <p:cNvSpPr/>
          <p:nvPr/>
        </p:nvSpPr>
        <p:spPr>
          <a:xfrm>
            <a:off x="9640133" y="3529846"/>
            <a:ext cx="4196358" cy="1088708"/>
          </a:xfrm>
          <a:prstGeom prst="rect">
            <a:avLst/>
          </a:prstGeom>
          <a:noFill/>
          <a:ln/>
        </p:spPr>
        <p:txBody>
          <a:bodyPr wrap="square" lIns="0" tIns="0" rIns="0" bIns="0" rtlCol="0" anchor="t"/>
          <a:lstStyle/>
          <a:p>
            <a:pPr marL="0" indent="0" algn="l">
              <a:lnSpc>
                <a:spcPts val="2850"/>
              </a:lnSpc>
              <a:buNone/>
            </a:pPr>
            <a:r>
              <a:rPr lang="en-US" dirty="0">
                <a:ea typeface="Roboto Condensed" pitchFamily="34" charset="-122"/>
                <a:cs typeface="Roboto Condensed" pitchFamily="34" charset="-120"/>
              </a:rPr>
              <a:t>Conducted statistical analysis and visualisation to uncover patterns and trends in the dataset</a:t>
            </a:r>
            <a:endParaRPr lang="en-US" dirty="0"/>
          </a:p>
        </p:txBody>
      </p:sp>
      <p:sp>
        <p:nvSpPr>
          <p:cNvPr id="17" name="Text 15"/>
          <p:cNvSpPr/>
          <p:nvPr/>
        </p:nvSpPr>
        <p:spPr>
          <a:xfrm>
            <a:off x="793790" y="5369719"/>
            <a:ext cx="226814" cy="283488"/>
          </a:xfrm>
          <a:prstGeom prst="rect">
            <a:avLst/>
          </a:prstGeom>
          <a:noFill/>
          <a:ln/>
        </p:spPr>
        <p:txBody>
          <a:bodyPr wrap="none" lIns="0" tIns="0" rIns="0" bIns="0" rtlCol="0" anchor="t"/>
          <a:lstStyle/>
          <a:p>
            <a:pPr marL="0" indent="0" algn="l">
              <a:lnSpc>
                <a:spcPts val="2850"/>
              </a:lnSpc>
              <a:buNone/>
            </a:pPr>
            <a:r>
              <a:rPr lang="en-US" dirty="0">
                <a:ea typeface="Hubot Sans Light" pitchFamily="34" charset="-122"/>
                <a:cs typeface="Hubot Sans Light" pitchFamily="34" charset="-120"/>
              </a:rPr>
              <a:t>04</a:t>
            </a:r>
            <a:endParaRPr lang="en-US" dirty="0"/>
          </a:p>
        </p:txBody>
      </p:sp>
      <p:sp>
        <p:nvSpPr>
          <p:cNvPr id="18" name="Shape 16"/>
          <p:cNvSpPr/>
          <p:nvPr/>
        </p:nvSpPr>
        <p:spPr>
          <a:xfrm>
            <a:off x="793790" y="5724763"/>
            <a:ext cx="6407944" cy="30480"/>
          </a:xfrm>
          <a:prstGeom prst="rect">
            <a:avLst/>
          </a:prstGeom>
          <a:solidFill>
            <a:srgbClr val="C8CAC1"/>
          </a:solidFill>
          <a:ln/>
        </p:spPr>
        <p:txBody>
          <a:bodyPr/>
          <a:lstStyle/>
          <a:p>
            <a:endParaRPr lang="en-US"/>
          </a:p>
        </p:txBody>
      </p:sp>
      <p:sp>
        <p:nvSpPr>
          <p:cNvPr id="19" name="Text 17"/>
          <p:cNvSpPr/>
          <p:nvPr/>
        </p:nvSpPr>
        <p:spPr>
          <a:xfrm>
            <a:off x="793790" y="5899071"/>
            <a:ext cx="3695224" cy="354330"/>
          </a:xfrm>
          <a:prstGeom prst="rect">
            <a:avLst/>
          </a:prstGeom>
          <a:noFill/>
          <a:ln/>
        </p:spPr>
        <p:txBody>
          <a:bodyPr wrap="none" lIns="0" tIns="0" rIns="0" bIns="0" rtlCol="0" anchor="t"/>
          <a:lstStyle/>
          <a:p>
            <a:pPr marL="0" indent="0" algn="l">
              <a:lnSpc>
                <a:spcPts val="2750"/>
              </a:lnSpc>
              <a:buNone/>
            </a:pPr>
            <a:r>
              <a:rPr lang="en-US" sz="2000" b="1" dirty="0">
                <a:latin typeface="Arial Black" panose="020B0A04020102020204" pitchFamily="34" charset="0"/>
                <a:ea typeface="Hubot Sans Bold" pitchFamily="34" charset="-122"/>
                <a:cs typeface="Hubot Sans Bold" pitchFamily="34" charset="-120"/>
              </a:rPr>
              <a:t>SQL BUSINESS QUERIES</a:t>
            </a:r>
            <a:endParaRPr lang="en-US" sz="2000" dirty="0">
              <a:latin typeface="Arial Black" panose="020B0A04020102020204" pitchFamily="34" charset="0"/>
            </a:endParaRPr>
          </a:p>
        </p:txBody>
      </p:sp>
      <p:sp>
        <p:nvSpPr>
          <p:cNvPr id="20" name="Text 18"/>
          <p:cNvSpPr/>
          <p:nvPr/>
        </p:nvSpPr>
        <p:spPr>
          <a:xfrm>
            <a:off x="793790" y="6389489"/>
            <a:ext cx="6407944" cy="725805"/>
          </a:xfrm>
          <a:prstGeom prst="rect">
            <a:avLst/>
          </a:prstGeom>
          <a:noFill/>
          <a:ln/>
        </p:spPr>
        <p:txBody>
          <a:bodyPr wrap="square" lIns="0" tIns="0" rIns="0" bIns="0" rtlCol="0" anchor="t"/>
          <a:lstStyle/>
          <a:p>
            <a:pPr marL="0" indent="0" algn="l">
              <a:lnSpc>
                <a:spcPts val="2850"/>
              </a:lnSpc>
              <a:buNone/>
            </a:pPr>
            <a:r>
              <a:rPr lang="en-US" dirty="0">
                <a:ea typeface="Roboto Condensed" pitchFamily="34" charset="-122"/>
                <a:cs typeface="Roboto Condensed" pitchFamily="34" charset="-120"/>
              </a:rPr>
              <a:t>Validated insights through structured queries and answered specific business questions</a:t>
            </a:r>
            <a:endParaRPr lang="en-US" dirty="0"/>
          </a:p>
        </p:txBody>
      </p:sp>
      <p:sp>
        <p:nvSpPr>
          <p:cNvPr id="21" name="Text 19"/>
          <p:cNvSpPr/>
          <p:nvPr/>
        </p:nvSpPr>
        <p:spPr>
          <a:xfrm>
            <a:off x="7428548" y="5369719"/>
            <a:ext cx="226814" cy="283488"/>
          </a:xfrm>
          <a:prstGeom prst="rect">
            <a:avLst/>
          </a:prstGeom>
          <a:noFill/>
          <a:ln/>
        </p:spPr>
        <p:txBody>
          <a:bodyPr wrap="none" lIns="0" tIns="0" rIns="0" bIns="0" rtlCol="0" anchor="t"/>
          <a:lstStyle/>
          <a:p>
            <a:pPr marL="0" indent="0" algn="l">
              <a:lnSpc>
                <a:spcPts val="2850"/>
              </a:lnSpc>
              <a:buNone/>
            </a:pPr>
            <a:r>
              <a:rPr lang="en-US" dirty="0">
                <a:ea typeface="Hubot Sans Light" pitchFamily="34" charset="-122"/>
                <a:cs typeface="Hubot Sans Light" pitchFamily="34" charset="-120"/>
              </a:rPr>
              <a:t>05</a:t>
            </a:r>
            <a:endParaRPr lang="en-US" dirty="0"/>
          </a:p>
        </p:txBody>
      </p:sp>
      <p:sp>
        <p:nvSpPr>
          <p:cNvPr id="22" name="Shape 20"/>
          <p:cNvSpPr/>
          <p:nvPr/>
        </p:nvSpPr>
        <p:spPr>
          <a:xfrm>
            <a:off x="7428548" y="5724763"/>
            <a:ext cx="6407944" cy="30480"/>
          </a:xfrm>
          <a:prstGeom prst="rect">
            <a:avLst/>
          </a:prstGeom>
          <a:solidFill>
            <a:srgbClr val="C8CAC1"/>
          </a:solidFill>
          <a:ln/>
        </p:spPr>
        <p:txBody>
          <a:bodyPr/>
          <a:lstStyle/>
          <a:p>
            <a:endParaRPr lang="en-US"/>
          </a:p>
        </p:txBody>
      </p:sp>
      <p:sp>
        <p:nvSpPr>
          <p:cNvPr id="23" name="Text 21"/>
          <p:cNvSpPr/>
          <p:nvPr/>
        </p:nvSpPr>
        <p:spPr>
          <a:xfrm>
            <a:off x="7428548" y="5899071"/>
            <a:ext cx="3518654" cy="354330"/>
          </a:xfrm>
          <a:prstGeom prst="rect">
            <a:avLst/>
          </a:prstGeom>
          <a:noFill/>
          <a:ln/>
        </p:spPr>
        <p:txBody>
          <a:bodyPr wrap="none" lIns="0" tIns="0" rIns="0" bIns="0" rtlCol="0" anchor="t"/>
          <a:lstStyle/>
          <a:p>
            <a:pPr marL="0" indent="0" algn="l">
              <a:lnSpc>
                <a:spcPts val="2750"/>
              </a:lnSpc>
              <a:buNone/>
            </a:pPr>
            <a:r>
              <a:rPr lang="en-US" sz="2000" b="1" dirty="0">
                <a:latin typeface="Arial Black" panose="020B0A04020102020204" pitchFamily="34" charset="0"/>
                <a:ea typeface="Hubot Sans Bold" pitchFamily="34" charset="-122"/>
                <a:cs typeface="Hubot Sans Bold" pitchFamily="34" charset="-120"/>
              </a:rPr>
              <a:t>POWER BI DASHBOARD</a:t>
            </a:r>
            <a:endParaRPr lang="en-US" sz="2000" dirty="0">
              <a:latin typeface="Arial Black" panose="020B0A04020102020204" pitchFamily="34" charset="0"/>
            </a:endParaRPr>
          </a:p>
        </p:txBody>
      </p:sp>
      <p:sp>
        <p:nvSpPr>
          <p:cNvPr id="24" name="Text 22"/>
          <p:cNvSpPr/>
          <p:nvPr/>
        </p:nvSpPr>
        <p:spPr>
          <a:xfrm>
            <a:off x="7428548" y="6389489"/>
            <a:ext cx="6407944" cy="725805"/>
          </a:xfrm>
          <a:prstGeom prst="rect">
            <a:avLst/>
          </a:prstGeom>
          <a:noFill/>
          <a:ln/>
        </p:spPr>
        <p:txBody>
          <a:bodyPr wrap="square" lIns="0" tIns="0" rIns="0" bIns="0" rtlCol="0" anchor="t"/>
          <a:lstStyle/>
          <a:p>
            <a:pPr marL="0" indent="0" algn="l">
              <a:lnSpc>
                <a:spcPts val="2850"/>
              </a:lnSpc>
              <a:buNone/>
            </a:pPr>
            <a:r>
              <a:rPr lang="en-US" dirty="0">
                <a:ea typeface="Roboto Condensed" pitchFamily="34" charset="-122"/>
                <a:cs typeface="Roboto Condensed" pitchFamily="34" charset="-120"/>
              </a:rPr>
              <a:t>Created interactive visualisations enabling stakeholders to explore data dynamically</a:t>
            </a:r>
            <a:endParaRPr lang="en-US" dirty="0"/>
          </a:p>
        </p:txBody>
      </p:sp>
      <p:sp>
        <p:nvSpPr>
          <p:cNvPr id="26" name="Rectangle 25">
            <a:extLst>
              <a:ext uri="{FF2B5EF4-FFF2-40B4-BE49-F238E27FC236}">
                <a16:creationId xmlns:a16="http://schemas.microsoft.com/office/drawing/2014/main" id="{E72BAA07-87E8-832C-D514-5945FC11C686}"/>
              </a:ext>
            </a:extLst>
          </p:cNvPr>
          <p:cNvSpPr/>
          <p:nvPr/>
        </p:nvSpPr>
        <p:spPr>
          <a:xfrm>
            <a:off x="12298680" y="7391400"/>
            <a:ext cx="2331720" cy="768412"/>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90399B1D-78F1-4294-2D83-6445D2AA06D9}"/>
              </a:ext>
            </a:extLst>
          </p:cNvPr>
          <p:cNvSpPr/>
          <p:nvPr/>
        </p:nvSpPr>
        <p:spPr>
          <a:xfrm>
            <a:off x="9978033" y="2479239"/>
            <a:ext cx="3657600" cy="188088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C6A63A6C-DEE5-AC1E-360F-87DC35BDEC6D}"/>
              </a:ext>
            </a:extLst>
          </p:cNvPr>
          <p:cNvSpPr/>
          <p:nvPr/>
        </p:nvSpPr>
        <p:spPr>
          <a:xfrm>
            <a:off x="5406271" y="2482841"/>
            <a:ext cx="3657600" cy="188088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F8930985-9672-790A-FF85-36C1BE32282B}"/>
              </a:ext>
            </a:extLst>
          </p:cNvPr>
          <p:cNvSpPr/>
          <p:nvPr/>
        </p:nvSpPr>
        <p:spPr>
          <a:xfrm>
            <a:off x="914578" y="2467903"/>
            <a:ext cx="3657600" cy="188088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Shape 0"/>
          <p:cNvSpPr/>
          <p:nvPr/>
        </p:nvSpPr>
        <p:spPr>
          <a:xfrm>
            <a:off x="556974" y="437674"/>
            <a:ext cx="2901843" cy="569269"/>
          </a:xfrm>
          <a:prstGeom prst="roundRect">
            <a:avLst>
              <a:gd name="adj" fmla="val 6076"/>
            </a:avLst>
          </a:prstGeom>
          <a:noFill/>
          <a:ln w="7620">
            <a:solidFill>
              <a:srgbClr val="1E1E1A"/>
            </a:solidFill>
            <a:prstDash val="solid"/>
          </a:ln>
        </p:spPr>
        <p:txBody>
          <a:bodyPr/>
          <a:lstStyle/>
          <a:p>
            <a:endParaRPr lang="en-US" sz="200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3749" y="616950"/>
            <a:ext cx="329307" cy="244136"/>
          </a:xfrm>
          <a:prstGeom prst="rect">
            <a:avLst/>
          </a:prstGeom>
        </p:spPr>
      </p:pic>
      <p:sp>
        <p:nvSpPr>
          <p:cNvPr id="4" name="Text 1"/>
          <p:cNvSpPr/>
          <p:nvPr/>
        </p:nvSpPr>
        <p:spPr>
          <a:xfrm>
            <a:off x="1317554" y="596634"/>
            <a:ext cx="1874491" cy="390525"/>
          </a:xfrm>
          <a:prstGeom prst="rect">
            <a:avLst/>
          </a:prstGeom>
          <a:noFill/>
          <a:ln/>
        </p:spPr>
        <p:txBody>
          <a:bodyPr wrap="none" lIns="0" tIns="0" rIns="0" bIns="0" rtlCol="0" anchor="ctr"/>
          <a:lstStyle/>
          <a:p>
            <a:pPr marL="0" indent="0">
              <a:lnSpc>
                <a:spcPts val="1600"/>
              </a:lnSpc>
              <a:buNone/>
            </a:pPr>
            <a:r>
              <a:rPr lang="en-US" sz="2000" b="1" dirty="0">
                <a:latin typeface="Roboto Condensed" pitchFamily="34" charset="0"/>
                <a:ea typeface="Roboto Condensed" pitchFamily="34" charset="-122"/>
                <a:cs typeface="Roboto Condensed" pitchFamily="34" charset="-120"/>
              </a:rPr>
              <a:t>KEY FINDINGS</a:t>
            </a:r>
            <a:endParaRPr lang="en-US" sz="2000" b="1" dirty="0"/>
          </a:p>
        </p:txBody>
      </p:sp>
      <p:sp>
        <p:nvSpPr>
          <p:cNvPr id="5" name="Text 2"/>
          <p:cNvSpPr/>
          <p:nvPr/>
        </p:nvSpPr>
        <p:spPr>
          <a:xfrm>
            <a:off x="556974" y="1496230"/>
            <a:ext cx="9226748" cy="497324"/>
          </a:xfrm>
          <a:prstGeom prst="rect">
            <a:avLst/>
          </a:prstGeom>
          <a:noFill/>
          <a:ln/>
        </p:spPr>
        <p:txBody>
          <a:bodyPr wrap="none" lIns="0" tIns="0" rIns="0" bIns="0" rtlCol="0" anchor="t"/>
          <a:lstStyle/>
          <a:p>
            <a:pPr marL="0" indent="0" algn="l">
              <a:lnSpc>
                <a:spcPts val="3900"/>
              </a:lnSpc>
              <a:buNone/>
            </a:pPr>
            <a:r>
              <a:rPr lang="en-US" sz="4000" b="1" dirty="0">
                <a:solidFill>
                  <a:srgbClr val="C00000"/>
                </a:solidFill>
                <a:latin typeface="Arial Black" panose="020B0A04020102020204" pitchFamily="34" charset="0"/>
                <a:ea typeface="Hubot Sans Bold" pitchFamily="34" charset="-122"/>
                <a:cs typeface="Hubot Sans Bold" pitchFamily="34" charset="-120"/>
              </a:rPr>
              <a:t>EXPLORATORY DATA ANALYSIS – INSIGHTS</a:t>
            </a:r>
            <a:endParaRPr lang="en-US" sz="4000" b="1" dirty="0">
              <a:solidFill>
                <a:srgbClr val="C00000"/>
              </a:solidFill>
              <a:latin typeface="Arial Black" panose="020B0A04020102020204" pitchFamily="34" charset="0"/>
            </a:endParaRPr>
          </a:p>
        </p:txBody>
      </p:sp>
      <p:sp>
        <p:nvSpPr>
          <p:cNvPr id="6" name="Text 3"/>
          <p:cNvSpPr/>
          <p:nvPr/>
        </p:nvSpPr>
        <p:spPr>
          <a:xfrm>
            <a:off x="556974" y="2699266"/>
            <a:ext cx="4372928" cy="525185"/>
          </a:xfrm>
          <a:prstGeom prst="rect">
            <a:avLst/>
          </a:prstGeom>
          <a:noFill/>
          <a:ln/>
        </p:spPr>
        <p:txBody>
          <a:bodyPr wrap="none" lIns="0" tIns="0" rIns="0" bIns="0" rtlCol="0" anchor="t"/>
          <a:lstStyle/>
          <a:p>
            <a:pPr marL="0" indent="0" algn="ctr">
              <a:lnSpc>
                <a:spcPts val="4100"/>
              </a:lnSpc>
              <a:buNone/>
            </a:pPr>
            <a:r>
              <a:rPr lang="en-US" sz="4100" b="1" dirty="0">
                <a:solidFill>
                  <a:schemeClr val="bg1"/>
                </a:solidFill>
                <a:latin typeface="Arial Black" panose="020B0A04020102020204" pitchFamily="34" charset="0"/>
                <a:ea typeface="Hubot Sans Bold" pitchFamily="34" charset="-122"/>
                <a:cs typeface="Hubot Sans Bold" pitchFamily="34" charset="-120"/>
              </a:rPr>
              <a:t>8,800</a:t>
            </a:r>
            <a:endParaRPr lang="en-US" sz="4100" dirty="0">
              <a:solidFill>
                <a:schemeClr val="bg1"/>
              </a:solidFill>
              <a:latin typeface="Arial Black" panose="020B0A04020102020204" pitchFamily="34" charset="0"/>
            </a:endParaRPr>
          </a:p>
        </p:txBody>
      </p:sp>
      <p:sp>
        <p:nvSpPr>
          <p:cNvPr id="7" name="Text 4"/>
          <p:cNvSpPr/>
          <p:nvPr/>
        </p:nvSpPr>
        <p:spPr>
          <a:xfrm>
            <a:off x="1748671" y="3423285"/>
            <a:ext cx="1989415" cy="248603"/>
          </a:xfrm>
          <a:prstGeom prst="rect">
            <a:avLst/>
          </a:prstGeom>
          <a:noFill/>
          <a:ln/>
        </p:spPr>
        <p:txBody>
          <a:bodyPr wrap="none" lIns="0" tIns="0" rIns="0" bIns="0" rtlCol="0" anchor="t"/>
          <a:lstStyle/>
          <a:p>
            <a:pPr marL="0" indent="0" algn="ctr">
              <a:lnSpc>
                <a:spcPts val="1950"/>
              </a:lnSpc>
              <a:buNone/>
            </a:pPr>
            <a:r>
              <a:rPr lang="en-US" b="1" dirty="0">
                <a:solidFill>
                  <a:schemeClr val="bg1"/>
                </a:solidFill>
                <a:latin typeface="Arial Black" panose="020B0A04020102020204" pitchFamily="34" charset="0"/>
                <a:ea typeface="Hubot Sans Bold" pitchFamily="34" charset="-122"/>
                <a:cs typeface="Hubot Sans Bold" pitchFamily="34" charset="-120"/>
              </a:rPr>
              <a:t>TOTAL TITLES</a:t>
            </a:r>
            <a:endParaRPr lang="en-US" dirty="0">
              <a:solidFill>
                <a:schemeClr val="bg1"/>
              </a:solidFill>
              <a:latin typeface="Arial Black" panose="020B0A04020102020204" pitchFamily="34" charset="0"/>
            </a:endParaRPr>
          </a:p>
        </p:txBody>
      </p:sp>
      <p:sp>
        <p:nvSpPr>
          <p:cNvPr id="8" name="Text 5"/>
          <p:cNvSpPr/>
          <p:nvPr/>
        </p:nvSpPr>
        <p:spPr>
          <a:xfrm>
            <a:off x="556974" y="3767376"/>
            <a:ext cx="4372928" cy="254675"/>
          </a:xfrm>
          <a:prstGeom prst="rect">
            <a:avLst/>
          </a:prstGeom>
          <a:noFill/>
          <a:ln/>
        </p:spPr>
        <p:txBody>
          <a:bodyPr wrap="none" lIns="0" tIns="0" rIns="0" bIns="0" rtlCol="0" anchor="t"/>
          <a:lstStyle/>
          <a:p>
            <a:pPr marL="0" indent="0" algn="ctr">
              <a:lnSpc>
                <a:spcPts val="2000"/>
              </a:lnSpc>
              <a:buNone/>
            </a:pPr>
            <a:r>
              <a:rPr lang="en-US" dirty="0">
                <a:solidFill>
                  <a:schemeClr val="bg1"/>
                </a:solidFill>
                <a:ea typeface="Roboto Condensed" pitchFamily="34" charset="-122"/>
                <a:cs typeface="Roboto Condensed" pitchFamily="34" charset="-120"/>
              </a:rPr>
              <a:t>Comprehensive catalogue </a:t>
            </a:r>
          </a:p>
          <a:p>
            <a:pPr marL="0" indent="0" algn="ctr">
              <a:lnSpc>
                <a:spcPts val="2000"/>
              </a:lnSpc>
              <a:buNone/>
            </a:pPr>
            <a:r>
              <a:rPr lang="en-US" dirty="0">
                <a:solidFill>
                  <a:schemeClr val="bg1"/>
                </a:solidFill>
                <a:ea typeface="Roboto Condensed" pitchFamily="34" charset="-122"/>
                <a:cs typeface="Roboto Condensed" pitchFamily="34" charset="-120"/>
              </a:rPr>
              <a:t>analyzed</a:t>
            </a:r>
            <a:endParaRPr lang="en-US" dirty="0">
              <a:solidFill>
                <a:schemeClr val="bg1"/>
              </a:solidFill>
            </a:endParaRPr>
          </a:p>
        </p:txBody>
      </p:sp>
      <p:sp>
        <p:nvSpPr>
          <p:cNvPr id="9" name="Text 6"/>
          <p:cNvSpPr/>
          <p:nvPr/>
        </p:nvSpPr>
        <p:spPr>
          <a:xfrm>
            <a:off x="5128736" y="2699266"/>
            <a:ext cx="4372928" cy="525185"/>
          </a:xfrm>
          <a:prstGeom prst="rect">
            <a:avLst/>
          </a:prstGeom>
          <a:noFill/>
          <a:ln/>
        </p:spPr>
        <p:txBody>
          <a:bodyPr wrap="none" lIns="0" tIns="0" rIns="0" bIns="0" rtlCol="0" anchor="t"/>
          <a:lstStyle/>
          <a:p>
            <a:pPr marL="0" indent="0" algn="ctr">
              <a:lnSpc>
                <a:spcPts val="4100"/>
              </a:lnSpc>
              <a:buNone/>
            </a:pPr>
            <a:r>
              <a:rPr lang="en-US" sz="4100" b="1" dirty="0">
                <a:solidFill>
                  <a:schemeClr val="bg1"/>
                </a:solidFill>
                <a:latin typeface="Arial Black" panose="020B0A04020102020204" pitchFamily="34" charset="0"/>
                <a:ea typeface="Hubot Sans Bold" pitchFamily="34" charset="-122"/>
                <a:cs typeface="Hubot Sans Bold" pitchFamily="34" charset="-120"/>
              </a:rPr>
              <a:t>70%</a:t>
            </a:r>
            <a:endParaRPr lang="en-US" sz="4100" dirty="0">
              <a:solidFill>
                <a:schemeClr val="bg1"/>
              </a:solidFill>
              <a:latin typeface="Arial Black" panose="020B0A04020102020204" pitchFamily="34" charset="0"/>
            </a:endParaRPr>
          </a:p>
        </p:txBody>
      </p:sp>
      <p:sp>
        <p:nvSpPr>
          <p:cNvPr id="10" name="Text 7"/>
          <p:cNvSpPr/>
          <p:nvPr/>
        </p:nvSpPr>
        <p:spPr>
          <a:xfrm>
            <a:off x="6320433" y="3423285"/>
            <a:ext cx="1989415" cy="248603"/>
          </a:xfrm>
          <a:prstGeom prst="rect">
            <a:avLst/>
          </a:prstGeom>
          <a:noFill/>
          <a:ln/>
        </p:spPr>
        <p:txBody>
          <a:bodyPr wrap="none" lIns="0" tIns="0" rIns="0" bIns="0" rtlCol="0" anchor="t"/>
          <a:lstStyle/>
          <a:p>
            <a:pPr marL="0" indent="0" algn="ctr">
              <a:lnSpc>
                <a:spcPts val="1950"/>
              </a:lnSpc>
              <a:buNone/>
            </a:pPr>
            <a:r>
              <a:rPr lang="en-US" b="1" dirty="0">
                <a:solidFill>
                  <a:schemeClr val="bg1"/>
                </a:solidFill>
                <a:latin typeface="Arial Black" panose="020B0A04020102020204" pitchFamily="34" charset="0"/>
                <a:ea typeface="Hubot Sans Bold" pitchFamily="34" charset="-122"/>
                <a:cs typeface="Hubot Sans Bold" pitchFamily="34" charset="-120"/>
              </a:rPr>
              <a:t>MOVIES</a:t>
            </a:r>
            <a:endParaRPr lang="en-US" dirty="0">
              <a:solidFill>
                <a:schemeClr val="bg1"/>
              </a:solidFill>
              <a:latin typeface="Arial Black" panose="020B0A04020102020204" pitchFamily="34" charset="0"/>
            </a:endParaRPr>
          </a:p>
        </p:txBody>
      </p:sp>
      <p:sp>
        <p:nvSpPr>
          <p:cNvPr id="11" name="Text 8"/>
          <p:cNvSpPr/>
          <p:nvPr/>
        </p:nvSpPr>
        <p:spPr>
          <a:xfrm>
            <a:off x="5128736" y="3767376"/>
            <a:ext cx="4372928" cy="254675"/>
          </a:xfrm>
          <a:prstGeom prst="rect">
            <a:avLst/>
          </a:prstGeom>
          <a:noFill/>
          <a:ln/>
        </p:spPr>
        <p:txBody>
          <a:bodyPr wrap="none" lIns="0" tIns="0" rIns="0" bIns="0" rtlCol="0" anchor="t"/>
          <a:lstStyle/>
          <a:p>
            <a:pPr marL="0" indent="0" algn="ctr">
              <a:lnSpc>
                <a:spcPts val="2000"/>
              </a:lnSpc>
              <a:buNone/>
            </a:pPr>
            <a:r>
              <a:rPr lang="en-US" dirty="0">
                <a:solidFill>
                  <a:schemeClr val="bg1"/>
                </a:solidFill>
                <a:ea typeface="Roboto Condensed" pitchFamily="34" charset="-122"/>
                <a:cs typeface="Roboto Condensed" pitchFamily="34" charset="-120"/>
              </a:rPr>
              <a:t>Dominate the platform</a:t>
            </a:r>
            <a:endParaRPr lang="en-US" dirty="0">
              <a:solidFill>
                <a:schemeClr val="bg1"/>
              </a:solidFill>
            </a:endParaRPr>
          </a:p>
        </p:txBody>
      </p:sp>
      <p:sp>
        <p:nvSpPr>
          <p:cNvPr id="12" name="Text 9"/>
          <p:cNvSpPr/>
          <p:nvPr/>
        </p:nvSpPr>
        <p:spPr>
          <a:xfrm>
            <a:off x="9700498" y="2699266"/>
            <a:ext cx="4372928" cy="525185"/>
          </a:xfrm>
          <a:prstGeom prst="rect">
            <a:avLst/>
          </a:prstGeom>
          <a:noFill/>
          <a:ln/>
        </p:spPr>
        <p:txBody>
          <a:bodyPr wrap="none" lIns="0" tIns="0" rIns="0" bIns="0" rtlCol="0" anchor="t"/>
          <a:lstStyle/>
          <a:p>
            <a:pPr marL="0" indent="0" algn="ctr">
              <a:lnSpc>
                <a:spcPts val="4100"/>
              </a:lnSpc>
              <a:buNone/>
            </a:pPr>
            <a:r>
              <a:rPr lang="en-US" sz="4100" b="1" dirty="0">
                <a:solidFill>
                  <a:schemeClr val="bg1"/>
                </a:solidFill>
                <a:latin typeface="Arial Black" panose="020B0A04020102020204" pitchFamily="34" charset="0"/>
                <a:ea typeface="Hubot Sans Bold" pitchFamily="34" charset="-122"/>
                <a:cs typeface="Hubot Sans Bold" pitchFamily="34" charset="-120"/>
              </a:rPr>
              <a:t>30%</a:t>
            </a:r>
            <a:endParaRPr lang="en-US" sz="4100" dirty="0">
              <a:solidFill>
                <a:schemeClr val="bg1"/>
              </a:solidFill>
              <a:latin typeface="Arial Black" panose="020B0A04020102020204" pitchFamily="34" charset="0"/>
            </a:endParaRPr>
          </a:p>
        </p:txBody>
      </p:sp>
      <p:sp>
        <p:nvSpPr>
          <p:cNvPr id="13" name="Text 10"/>
          <p:cNvSpPr/>
          <p:nvPr/>
        </p:nvSpPr>
        <p:spPr>
          <a:xfrm>
            <a:off x="10892195" y="3423285"/>
            <a:ext cx="1989415" cy="248603"/>
          </a:xfrm>
          <a:prstGeom prst="rect">
            <a:avLst/>
          </a:prstGeom>
          <a:noFill/>
          <a:ln/>
        </p:spPr>
        <p:txBody>
          <a:bodyPr wrap="none" lIns="0" tIns="0" rIns="0" bIns="0" rtlCol="0" anchor="t"/>
          <a:lstStyle/>
          <a:p>
            <a:pPr marL="0" indent="0" algn="ctr">
              <a:lnSpc>
                <a:spcPts val="1950"/>
              </a:lnSpc>
              <a:buNone/>
            </a:pPr>
            <a:r>
              <a:rPr lang="en-US" b="1" dirty="0">
                <a:solidFill>
                  <a:schemeClr val="bg1"/>
                </a:solidFill>
                <a:latin typeface="Arial Black" panose="020B0A04020102020204" pitchFamily="34" charset="0"/>
                <a:ea typeface="Hubot Sans Bold" pitchFamily="34" charset="-122"/>
                <a:cs typeface="Hubot Sans Bold" pitchFamily="34" charset="-120"/>
              </a:rPr>
              <a:t>TV SHOWS</a:t>
            </a:r>
            <a:endParaRPr lang="en-US" dirty="0">
              <a:solidFill>
                <a:schemeClr val="bg1"/>
              </a:solidFill>
              <a:latin typeface="Arial Black" panose="020B0A04020102020204" pitchFamily="34" charset="0"/>
            </a:endParaRPr>
          </a:p>
        </p:txBody>
      </p:sp>
      <p:sp>
        <p:nvSpPr>
          <p:cNvPr id="14" name="Text 11"/>
          <p:cNvSpPr/>
          <p:nvPr/>
        </p:nvSpPr>
        <p:spPr>
          <a:xfrm>
            <a:off x="9700498" y="3767376"/>
            <a:ext cx="4372928" cy="254675"/>
          </a:xfrm>
          <a:prstGeom prst="rect">
            <a:avLst/>
          </a:prstGeom>
          <a:noFill/>
          <a:ln/>
        </p:spPr>
        <p:txBody>
          <a:bodyPr wrap="none" lIns="0" tIns="0" rIns="0" bIns="0" rtlCol="0" anchor="t"/>
          <a:lstStyle/>
          <a:p>
            <a:pPr marL="0" indent="0" algn="ctr">
              <a:lnSpc>
                <a:spcPts val="2000"/>
              </a:lnSpc>
              <a:buNone/>
            </a:pPr>
            <a:r>
              <a:rPr lang="en-US" dirty="0">
                <a:solidFill>
                  <a:schemeClr val="bg1"/>
                </a:solidFill>
                <a:ea typeface="Roboto Condensed" pitchFamily="34" charset="-122"/>
                <a:cs typeface="Roboto Condensed" pitchFamily="34" charset="-120"/>
              </a:rPr>
              <a:t>Complement the offering</a:t>
            </a:r>
            <a:endParaRPr lang="en-US" dirty="0">
              <a:solidFill>
                <a:schemeClr val="bg1"/>
              </a:solidFill>
            </a:endParaRPr>
          </a:p>
        </p:txBody>
      </p:sp>
      <p:sp>
        <p:nvSpPr>
          <p:cNvPr id="15" name="Text 12"/>
          <p:cNvSpPr/>
          <p:nvPr/>
        </p:nvSpPr>
        <p:spPr>
          <a:xfrm>
            <a:off x="498516" y="5094581"/>
            <a:ext cx="5109509" cy="456188"/>
          </a:xfrm>
          <a:prstGeom prst="rect">
            <a:avLst/>
          </a:prstGeom>
          <a:noFill/>
          <a:ln/>
        </p:spPr>
        <p:txBody>
          <a:bodyPr wrap="none" lIns="0" tIns="0" rIns="0" bIns="0" rtlCol="0" anchor="t"/>
          <a:lstStyle/>
          <a:p>
            <a:pPr marL="0" indent="0" algn="l">
              <a:lnSpc>
                <a:spcPts val="2300"/>
              </a:lnSpc>
              <a:buNone/>
            </a:pPr>
            <a:r>
              <a:rPr lang="en-US" sz="3200" b="1" dirty="0">
                <a:solidFill>
                  <a:srgbClr val="C00000"/>
                </a:solidFill>
                <a:latin typeface="Arial Black" panose="020B0A04020102020204" pitchFamily="34" charset="0"/>
                <a:ea typeface="Hubot Sans Bold" pitchFamily="34" charset="-122"/>
                <a:cs typeface="Hubot Sans Bold" pitchFamily="34" charset="-120"/>
              </a:rPr>
              <a:t>CONTENT GROWTH TRAJECTORY</a:t>
            </a:r>
            <a:endParaRPr lang="en-US" sz="3200" dirty="0">
              <a:solidFill>
                <a:srgbClr val="C00000"/>
              </a:solidFill>
              <a:latin typeface="Arial Black" panose="020B0A04020102020204" pitchFamily="34" charset="0"/>
            </a:endParaRPr>
          </a:p>
        </p:txBody>
      </p:sp>
      <p:sp>
        <p:nvSpPr>
          <p:cNvPr id="16" name="Text 13"/>
          <p:cNvSpPr/>
          <p:nvPr/>
        </p:nvSpPr>
        <p:spPr>
          <a:xfrm>
            <a:off x="498516" y="5750361"/>
            <a:ext cx="13442771" cy="1663661"/>
          </a:xfrm>
          <a:prstGeom prst="rect">
            <a:avLst/>
          </a:prstGeom>
          <a:noFill/>
          <a:ln/>
        </p:spPr>
        <p:txBody>
          <a:bodyPr wrap="square" lIns="0" tIns="0" rIns="0" bIns="0" rtlCol="0" anchor="t"/>
          <a:lstStyle/>
          <a:p>
            <a:pPr>
              <a:lnSpc>
                <a:spcPts val="2000"/>
              </a:lnSpc>
            </a:pPr>
            <a:r>
              <a:rPr lang="en-US" sz="2300" dirty="0">
                <a:ea typeface="Roboto Condensed" pitchFamily="34" charset="-122"/>
                <a:cs typeface="Roboto Condensed" pitchFamily="34" charset="-120"/>
              </a:rPr>
              <a:t>Netflix experienced significant content acceleration after 2016, with peak additions occurring between 2018 and 2020. This period coincided with aggressive international expansion and increased investment in original productions.</a:t>
            </a:r>
          </a:p>
          <a:p>
            <a:pPr>
              <a:lnSpc>
                <a:spcPts val="2000"/>
              </a:lnSpc>
            </a:pPr>
            <a:br>
              <a:rPr lang="en-US" sz="2300" dirty="0">
                <a:ea typeface="Roboto Condensed" pitchFamily="34" charset="-122"/>
                <a:cs typeface="Roboto Condensed" pitchFamily="34" charset="-120"/>
              </a:rPr>
            </a:br>
            <a:r>
              <a:rPr lang="en-US" sz="2300" dirty="0">
                <a:ea typeface="Roboto Condensed" pitchFamily="34" charset="-122"/>
                <a:cs typeface="Roboto Condensed" pitchFamily="34" charset="-120"/>
              </a:rPr>
              <a:t>The growth rate reflects Netflix's strategic shift from licensing content to building a robust proprietary catalogue, establishing the platform as both distributor and producer.</a:t>
            </a:r>
            <a:endParaRPr lang="en-US" sz="2300" dirty="0"/>
          </a:p>
          <a:p>
            <a:pPr marL="0" indent="0" algn="l">
              <a:lnSpc>
                <a:spcPts val="2000"/>
              </a:lnSpc>
              <a:buNone/>
            </a:pPr>
            <a:endParaRPr lang="en-US" sz="2000" dirty="0"/>
          </a:p>
        </p:txBody>
      </p:sp>
      <p:sp>
        <p:nvSpPr>
          <p:cNvPr id="19" name="Rectangle 18">
            <a:extLst>
              <a:ext uri="{FF2B5EF4-FFF2-40B4-BE49-F238E27FC236}">
                <a16:creationId xmlns:a16="http://schemas.microsoft.com/office/drawing/2014/main" id="{FE75DF14-47B0-BCBD-ACF0-726F5809D30E}"/>
              </a:ext>
            </a:extLst>
          </p:cNvPr>
          <p:cNvSpPr/>
          <p:nvPr/>
        </p:nvSpPr>
        <p:spPr>
          <a:xfrm>
            <a:off x="12298680" y="7391400"/>
            <a:ext cx="2331720" cy="768412"/>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957" y="717776"/>
            <a:ext cx="6511290" cy="544711"/>
          </a:xfrm>
          <a:prstGeom prst="rect">
            <a:avLst/>
          </a:prstGeom>
          <a:noFill/>
          <a:ln/>
        </p:spPr>
        <p:txBody>
          <a:bodyPr wrap="none" lIns="0" tIns="0" rIns="0" bIns="0" rtlCol="0" anchor="t"/>
          <a:lstStyle/>
          <a:p>
            <a:pPr marL="0" indent="0" algn="l">
              <a:lnSpc>
                <a:spcPts val="4250"/>
              </a:lnSpc>
              <a:buNone/>
            </a:pPr>
            <a:r>
              <a:rPr lang="en-US" sz="4000" b="1" dirty="0">
                <a:latin typeface="Arial Black" panose="020B0A04020102020204" pitchFamily="34" charset="0"/>
                <a:ea typeface="Hubot Sans Bold" pitchFamily="34" charset="-122"/>
                <a:cs typeface="Hubot Sans Bold" pitchFamily="34" charset="-120"/>
              </a:rPr>
              <a:t>GENRE &amp; RATING INSIGHTS</a:t>
            </a:r>
            <a:endParaRPr lang="en-US" sz="4000" dirty="0">
              <a:latin typeface="Arial Black" panose="020B0A04020102020204" pitchFamily="34" charset="0"/>
            </a:endParaRPr>
          </a:p>
        </p:txBody>
      </p:sp>
      <p:sp>
        <p:nvSpPr>
          <p:cNvPr id="18" name="Shape 13"/>
          <p:cNvSpPr/>
          <p:nvPr/>
        </p:nvSpPr>
        <p:spPr>
          <a:xfrm>
            <a:off x="609838" y="4046909"/>
            <a:ext cx="13410486" cy="29289"/>
          </a:xfrm>
          <a:prstGeom prst="rect">
            <a:avLst/>
          </a:prstGeom>
          <a:solidFill>
            <a:srgbClr val="55575A">
              <a:alpha val="50000"/>
            </a:srgbClr>
          </a:solidFill>
          <a:ln/>
        </p:spPr>
        <p:txBody>
          <a:bodyPr/>
          <a:lstStyle/>
          <a:p>
            <a:endParaRPr lang="en-US"/>
          </a:p>
        </p:txBody>
      </p:sp>
      <p:sp>
        <p:nvSpPr>
          <p:cNvPr id="19" name="Text 14"/>
          <p:cNvSpPr/>
          <p:nvPr/>
        </p:nvSpPr>
        <p:spPr>
          <a:xfrm>
            <a:off x="609957" y="4494629"/>
            <a:ext cx="4901565" cy="326827"/>
          </a:xfrm>
          <a:prstGeom prst="rect">
            <a:avLst/>
          </a:prstGeom>
          <a:noFill/>
          <a:ln/>
        </p:spPr>
        <p:txBody>
          <a:bodyPr wrap="none" lIns="0" tIns="0" rIns="0" bIns="0" rtlCol="0" anchor="t"/>
          <a:lstStyle/>
          <a:p>
            <a:pPr marL="0" indent="0" algn="l">
              <a:lnSpc>
                <a:spcPts val="2550"/>
              </a:lnSpc>
              <a:buNone/>
            </a:pPr>
            <a:r>
              <a:rPr lang="en-US" sz="3200" b="1" dirty="0">
                <a:solidFill>
                  <a:srgbClr val="C00000"/>
                </a:solidFill>
                <a:latin typeface="Arial Black" panose="020B0A04020102020204" pitchFamily="34" charset="0"/>
                <a:ea typeface="Hubot Sans Bold" pitchFamily="34" charset="-122"/>
                <a:cs typeface="Hubot Sans Bold" pitchFamily="34" charset="-120"/>
              </a:rPr>
              <a:t>RATING DISTRIBUTION ANALYSIS</a:t>
            </a:r>
            <a:endParaRPr lang="en-US" sz="3200" dirty="0">
              <a:solidFill>
                <a:srgbClr val="C00000"/>
              </a:solidFill>
              <a:latin typeface="Arial Black" panose="020B0A04020102020204" pitchFamily="34" charset="0"/>
            </a:endParaRPr>
          </a:p>
        </p:txBody>
      </p:sp>
      <p:grpSp>
        <p:nvGrpSpPr>
          <p:cNvPr id="36" name="Group 35">
            <a:extLst>
              <a:ext uri="{FF2B5EF4-FFF2-40B4-BE49-F238E27FC236}">
                <a16:creationId xmlns:a16="http://schemas.microsoft.com/office/drawing/2014/main" id="{E66B5717-6427-D96E-E9BC-C4EAA42875A0}"/>
              </a:ext>
            </a:extLst>
          </p:cNvPr>
          <p:cNvGrpSpPr/>
          <p:nvPr/>
        </p:nvGrpSpPr>
        <p:grpSpPr>
          <a:xfrm>
            <a:off x="609957" y="5303141"/>
            <a:ext cx="6511290" cy="2260534"/>
            <a:chOff x="609957" y="5147680"/>
            <a:chExt cx="6511290" cy="2325430"/>
          </a:xfrm>
        </p:grpSpPr>
        <p:sp>
          <p:nvSpPr>
            <p:cNvPr id="20" name="Shape 15"/>
            <p:cNvSpPr/>
            <p:nvPr/>
          </p:nvSpPr>
          <p:spPr>
            <a:xfrm>
              <a:off x="628530" y="5147680"/>
              <a:ext cx="5890617" cy="190223"/>
            </a:xfrm>
            <a:prstGeom prst="roundRect">
              <a:avLst>
                <a:gd name="adj" fmla="val 12005"/>
              </a:avLst>
            </a:prstGeom>
            <a:solidFill>
              <a:schemeClr val="tx1">
                <a:lumMod val="95000"/>
                <a:lumOff val="5000"/>
                <a:alpha val="50000"/>
              </a:schemeClr>
            </a:solidFill>
            <a:ln/>
          </p:spPr>
          <p:txBody>
            <a:bodyPr/>
            <a:lstStyle/>
            <a:p>
              <a:endParaRPr lang="en-US"/>
            </a:p>
          </p:txBody>
        </p:sp>
        <p:sp>
          <p:nvSpPr>
            <p:cNvPr id="21" name="Shape 16"/>
            <p:cNvSpPr/>
            <p:nvPr/>
          </p:nvSpPr>
          <p:spPr>
            <a:xfrm>
              <a:off x="628530" y="5147680"/>
              <a:ext cx="2474000" cy="190223"/>
            </a:xfrm>
            <a:prstGeom prst="roundRect">
              <a:avLst>
                <a:gd name="adj" fmla="val 12005"/>
              </a:avLst>
            </a:prstGeom>
            <a:solidFill>
              <a:srgbClr val="C00000"/>
            </a:solidFill>
            <a:ln/>
          </p:spPr>
          <p:txBody>
            <a:bodyPr/>
            <a:lstStyle/>
            <a:p>
              <a:endParaRPr lang="en-US">
                <a:solidFill>
                  <a:srgbClr val="FF0000"/>
                </a:solidFill>
              </a:endParaRPr>
            </a:p>
          </p:txBody>
        </p:sp>
        <p:sp>
          <p:nvSpPr>
            <p:cNvPr id="22" name="Text 17"/>
            <p:cNvSpPr/>
            <p:nvPr/>
          </p:nvSpPr>
          <p:spPr>
            <a:xfrm>
              <a:off x="6649759" y="5147680"/>
              <a:ext cx="471488" cy="190223"/>
            </a:xfrm>
            <a:prstGeom prst="rect">
              <a:avLst/>
            </a:prstGeom>
            <a:noFill/>
            <a:ln/>
          </p:spPr>
          <p:txBody>
            <a:bodyPr wrap="none" lIns="0" tIns="0" rIns="0" bIns="0" rtlCol="0" anchor="t"/>
            <a:lstStyle/>
            <a:p>
              <a:pPr marL="0" indent="0" algn="l">
                <a:lnSpc>
                  <a:spcPts val="1700"/>
                </a:lnSpc>
                <a:buNone/>
              </a:pPr>
              <a:r>
                <a:rPr lang="en-US" sz="1700" b="1" dirty="0">
                  <a:solidFill>
                    <a:srgbClr val="55575A"/>
                  </a:solidFill>
                  <a:latin typeface="Hubot Sans Bold" pitchFamily="34" charset="0"/>
                  <a:ea typeface="Hubot Sans Bold" pitchFamily="34" charset="-122"/>
                  <a:cs typeface="Hubot Sans Bold" pitchFamily="34" charset="-120"/>
                </a:rPr>
                <a:t>42%</a:t>
              </a:r>
              <a:endParaRPr lang="en-US" sz="1700" dirty="0"/>
            </a:p>
          </p:txBody>
        </p:sp>
        <p:sp>
          <p:nvSpPr>
            <p:cNvPr id="23" name="Text 18"/>
            <p:cNvSpPr/>
            <p:nvPr/>
          </p:nvSpPr>
          <p:spPr>
            <a:xfrm>
              <a:off x="628530" y="5528022"/>
              <a:ext cx="2178606" cy="237857"/>
            </a:xfrm>
            <a:prstGeom prst="rect">
              <a:avLst/>
            </a:prstGeom>
            <a:noFill/>
            <a:ln/>
          </p:spPr>
          <p:txBody>
            <a:bodyPr wrap="none" lIns="0" tIns="0" rIns="0" bIns="0" rtlCol="0" anchor="t"/>
            <a:lstStyle/>
            <a:p>
              <a:pPr marL="0" indent="0" algn="l">
                <a:lnSpc>
                  <a:spcPts val="2100"/>
                </a:lnSpc>
                <a:buNone/>
              </a:pPr>
              <a:r>
                <a:rPr lang="en-US" b="1" dirty="0">
                  <a:latin typeface="Arial Black" panose="020B0A04020102020204" pitchFamily="34" charset="0"/>
                  <a:ea typeface="Hubot Sans Bold" pitchFamily="34" charset="-122"/>
                  <a:cs typeface="Hubot Sans Bold" pitchFamily="34" charset="-120"/>
                </a:rPr>
                <a:t>TV-MA RATING</a:t>
              </a:r>
              <a:endParaRPr lang="en-US" dirty="0">
                <a:latin typeface="Arial Black" panose="020B0A04020102020204" pitchFamily="34" charset="0"/>
              </a:endParaRPr>
            </a:p>
          </p:txBody>
        </p:sp>
        <p:sp>
          <p:nvSpPr>
            <p:cNvPr id="24" name="Text 19"/>
            <p:cNvSpPr/>
            <p:nvPr/>
          </p:nvSpPr>
          <p:spPr>
            <a:xfrm>
              <a:off x="628530" y="5811721"/>
              <a:ext cx="6492716" cy="243576"/>
            </a:xfrm>
            <a:prstGeom prst="rect">
              <a:avLst/>
            </a:prstGeom>
            <a:noFill/>
            <a:ln/>
          </p:spPr>
          <p:txBody>
            <a:bodyPr wrap="none" lIns="0" tIns="0" rIns="0" bIns="0" rtlCol="0" anchor="t"/>
            <a:lstStyle/>
            <a:p>
              <a:pPr marL="0" indent="0" algn="l">
                <a:lnSpc>
                  <a:spcPts val="2150"/>
                </a:lnSpc>
                <a:buNone/>
              </a:pPr>
              <a:r>
                <a:rPr lang="en-US" dirty="0">
                  <a:ea typeface="Roboto Condensed" pitchFamily="34" charset="-122"/>
                  <a:cs typeface="Roboto Condensed" pitchFamily="34" charset="-120"/>
                </a:rPr>
                <a:t>Mature content dominates</a:t>
              </a:r>
              <a:endParaRPr lang="en-US" dirty="0"/>
            </a:p>
          </p:txBody>
        </p:sp>
        <p:sp>
          <p:nvSpPr>
            <p:cNvPr id="25" name="Shape 20"/>
            <p:cNvSpPr/>
            <p:nvPr/>
          </p:nvSpPr>
          <p:spPr>
            <a:xfrm>
              <a:off x="609957" y="6539150"/>
              <a:ext cx="5892760" cy="197374"/>
            </a:xfrm>
            <a:prstGeom prst="roundRect">
              <a:avLst>
                <a:gd name="adj" fmla="val 12005"/>
              </a:avLst>
            </a:prstGeom>
            <a:solidFill>
              <a:schemeClr val="tx1">
                <a:lumMod val="95000"/>
                <a:lumOff val="5000"/>
                <a:alpha val="50000"/>
              </a:schemeClr>
            </a:solidFill>
            <a:ln/>
          </p:spPr>
          <p:txBody>
            <a:bodyPr/>
            <a:lstStyle/>
            <a:p>
              <a:endParaRPr lang="en-US"/>
            </a:p>
          </p:txBody>
        </p:sp>
        <p:sp>
          <p:nvSpPr>
            <p:cNvPr id="26" name="Shape 21"/>
            <p:cNvSpPr/>
            <p:nvPr/>
          </p:nvSpPr>
          <p:spPr>
            <a:xfrm>
              <a:off x="609957" y="6539150"/>
              <a:ext cx="1649968" cy="197374"/>
            </a:xfrm>
            <a:prstGeom prst="roundRect">
              <a:avLst>
                <a:gd name="adj" fmla="val 12005"/>
              </a:avLst>
            </a:prstGeom>
            <a:solidFill>
              <a:srgbClr val="C00000"/>
            </a:solidFill>
            <a:ln/>
          </p:spPr>
          <p:txBody>
            <a:bodyPr/>
            <a:lstStyle/>
            <a:p>
              <a:endParaRPr lang="en-US"/>
            </a:p>
          </p:txBody>
        </p:sp>
        <p:sp>
          <p:nvSpPr>
            <p:cNvPr id="27" name="Text 22"/>
            <p:cNvSpPr/>
            <p:nvPr/>
          </p:nvSpPr>
          <p:spPr>
            <a:xfrm>
              <a:off x="6633329" y="6539150"/>
              <a:ext cx="469344" cy="197374"/>
            </a:xfrm>
            <a:prstGeom prst="rect">
              <a:avLst/>
            </a:prstGeom>
            <a:noFill/>
            <a:ln/>
          </p:spPr>
          <p:txBody>
            <a:bodyPr wrap="none" lIns="0" tIns="0" rIns="0" bIns="0" rtlCol="0" anchor="t"/>
            <a:lstStyle/>
            <a:p>
              <a:pPr marL="0" indent="0" algn="l">
                <a:lnSpc>
                  <a:spcPts val="1700"/>
                </a:lnSpc>
                <a:buNone/>
              </a:pPr>
              <a:r>
                <a:rPr lang="en-US" sz="1700" b="1" dirty="0">
                  <a:solidFill>
                    <a:srgbClr val="55575A"/>
                  </a:solidFill>
                  <a:latin typeface="Hubot Sans Bold" pitchFamily="34" charset="0"/>
                  <a:ea typeface="Hubot Sans Bold" pitchFamily="34" charset="-122"/>
                  <a:cs typeface="Hubot Sans Bold" pitchFamily="34" charset="-120"/>
                </a:rPr>
                <a:t>28%</a:t>
              </a:r>
              <a:endParaRPr lang="en-US" sz="1700" dirty="0"/>
            </a:p>
          </p:txBody>
        </p:sp>
        <p:sp>
          <p:nvSpPr>
            <p:cNvPr id="28" name="Text 23"/>
            <p:cNvSpPr/>
            <p:nvPr/>
          </p:nvSpPr>
          <p:spPr>
            <a:xfrm>
              <a:off x="609957" y="6933791"/>
              <a:ext cx="2178606" cy="246799"/>
            </a:xfrm>
            <a:prstGeom prst="rect">
              <a:avLst/>
            </a:prstGeom>
            <a:noFill/>
            <a:ln/>
          </p:spPr>
          <p:txBody>
            <a:bodyPr wrap="none" lIns="0" tIns="0" rIns="0" bIns="0" rtlCol="0" anchor="t"/>
            <a:lstStyle/>
            <a:p>
              <a:pPr marL="0" indent="0" algn="l">
                <a:lnSpc>
                  <a:spcPts val="2100"/>
                </a:lnSpc>
                <a:buNone/>
              </a:pPr>
              <a:r>
                <a:rPr lang="en-US" b="1" dirty="0">
                  <a:latin typeface="Arial Black" panose="020B0A04020102020204" pitchFamily="34" charset="0"/>
                  <a:ea typeface="Hubot Sans Bold" pitchFamily="34" charset="-122"/>
                  <a:cs typeface="Hubot Sans Bold" pitchFamily="34" charset="-120"/>
                </a:rPr>
                <a:t>TV-14 RATING</a:t>
              </a:r>
              <a:endParaRPr lang="en-US" dirty="0">
                <a:latin typeface="Arial Black" panose="020B0A04020102020204" pitchFamily="34" charset="0"/>
              </a:endParaRPr>
            </a:p>
          </p:txBody>
        </p:sp>
        <p:sp>
          <p:nvSpPr>
            <p:cNvPr id="29" name="Text 24"/>
            <p:cNvSpPr/>
            <p:nvPr/>
          </p:nvSpPr>
          <p:spPr>
            <a:xfrm>
              <a:off x="609957" y="7220377"/>
              <a:ext cx="6492716" cy="252733"/>
            </a:xfrm>
            <a:prstGeom prst="rect">
              <a:avLst/>
            </a:prstGeom>
            <a:noFill/>
            <a:ln/>
          </p:spPr>
          <p:txBody>
            <a:bodyPr wrap="none" lIns="0" tIns="0" rIns="0" bIns="0" rtlCol="0" anchor="t"/>
            <a:lstStyle/>
            <a:p>
              <a:pPr marL="0" indent="0" algn="l">
                <a:lnSpc>
                  <a:spcPts val="2150"/>
                </a:lnSpc>
                <a:buNone/>
              </a:pPr>
              <a:r>
                <a:rPr lang="en-US" dirty="0">
                  <a:ea typeface="Roboto Condensed" pitchFamily="34" charset="-122"/>
                  <a:cs typeface="Roboto Condensed" pitchFamily="34" charset="-120"/>
                </a:rPr>
                <a:t>Young adult audience focus</a:t>
              </a:r>
              <a:endParaRPr lang="en-US" dirty="0"/>
            </a:p>
          </p:txBody>
        </p:sp>
      </p:grpSp>
      <p:sp>
        <p:nvSpPr>
          <p:cNvPr id="30" name="Text 25"/>
          <p:cNvSpPr/>
          <p:nvPr/>
        </p:nvSpPr>
        <p:spPr>
          <a:xfrm>
            <a:off x="7718584" y="5242791"/>
            <a:ext cx="6492716" cy="2260534"/>
          </a:xfrm>
          <a:prstGeom prst="rect">
            <a:avLst/>
          </a:prstGeom>
          <a:noFill/>
          <a:ln/>
        </p:spPr>
        <p:txBody>
          <a:bodyPr wrap="square" lIns="0" tIns="0" rIns="0" bIns="0" rtlCol="0" anchor="t"/>
          <a:lstStyle/>
          <a:p>
            <a:pPr marL="0" indent="0" algn="l">
              <a:buNone/>
            </a:pPr>
            <a:r>
              <a:rPr lang="en-US" sz="2100" b="1" dirty="0">
                <a:ea typeface="Roboto Condensed" pitchFamily="34" charset="-122"/>
                <a:cs typeface="Roboto Condensed" pitchFamily="34" charset="-120"/>
              </a:rPr>
              <a:t>Audience Targeting Strategy:</a:t>
            </a:r>
            <a:r>
              <a:rPr lang="en-US" sz="2100" dirty="0">
                <a:ea typeface="Roboto Condensed" pitchFamily="34" charset="-122"/>
                <a:cs typeface="Roboto Condensed" pitchFamily="34" charset="-120"/>
              </a:rPr>
              <a:t> The prevalence of TV-MA and TV-14 ratings reveals Netflix's strategic focus on adult and young adult demographics. This positioning differentiates the platform from family-oriented competitors whilst maximising engagement amongst high-value subscriber segments.</a:t>
            </a:r>
            <a:endParaRPr lang="en-US" sz="2100" dirty="0"/>
          </a:p>
        </p:txBody>
      </p:sp>
      <p:sp>
        <p:nvSpPr>
          <p:cNvPr id="34" name="Rectangle 33">
            <a:extLst>
              <a:ext uri="{FF2B5EF4-FFF2-40B4-BE49-F238E27FC236}">
                <a16:creationId xmlns:a16="http://schemas.microsoft.com/office/drawing/2014/main" id="{2B7FA56E-E438-A30C-00D2-E2DF3C84B92C}"/>
              </a:ext>
            </a:extLst>
          </p:cNvPr>
          <p:cNvSpPr/>
          <p:nvPr/>
        </p:nvSpPr>
        <p:spPr>
          <a:xfrm>
            <a:off x="12298680" y="7391400"/>
            <a:ext cx="2331720" cy="768412"/>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CF2C03F4-8E57-6AAF-EF0F-DB753542780B}"/>
              </a:ext>
            </a:extLst>
          </p:cNvPr>
          <p:cNvGrpSpPr/>
          <p:nvPr/>
        </p:nvGrpSpPr>
        <p:grpSpPr>
          <a:xfrm>
            <a:off x="609957" y="1555055"/>
            <a:ext cx="13410367" cy="2231807"/>
            <a:chOff x="609957" y="1766521"/>
            <a:chExt cx="13410367" cy="2231807"/>
          </a:xfrm>
        </p:grpSpPr>
        <p:sp>
          <p:nvSpPr>
            <p:cNvPr id="3" name="Shape 1"/>
            <p:cNvSpPr/>
            <p:nvPr/>
          </p:nvSpPr>
          <p:spPr>
            <a:xfrm>
              <a:off x="609957" y="1766521"/>
              <a:ext cx="4353997" cy="2202517"/>
            </a:xfrm>
            <a:prstGeom prst="roundRect">
              <a:avLst>
                <a:gd name="adj" fmla="val 1320"/>
              </a:avLst>
            </a:prstGeom>
            <a:solidFill>
              <a:srgbClr val="D8D9D2"/>
            </a:solidFill>
            <a:ln/>
          </p:spPr>
          <p:txBody>
            <a:bodyPr/>
            <a:lstStyle/>
            <a:p>
              <a:endParaRPr lang="en-US"/>
            </a:p>
          </p:txBody>
        </p:sp>
        <p:sp>
          <p:nvSpPr>
            <p:cNvPr id="4" name="Shape 2"/>
            <p:cNvSpPr/>
            <p:nvPr/>
          </p:nvSpPr>
          <p:spPr>
            <a:xfrm>
              <a:off x="784146" y="1940710"/>
              <a:ext cx="522803" cy="522803"/>
            </a:xfrm>
            <a:prstGeom prst="roundRect">
              <a:avLst>
                <a:gd name="adj" fmla="val 17488587"/>
              </a:avLst>
            </a:prstGeom>
            <a:solidFill>
              <a:srgbClr val="C8CAC1"/>
            </a:solidFill>
            <a:ln/>
          </p:spPr>
          <p:txBody>
            <a:bodyPr/>
            <a:lstStyle/>
            <a:p>
              <a:endParaRPr lang="en-US"/>
            </a:p>
          </p:txBody>
        </p:sp>
        <p:sp>
          <p:nvSpPr>
            <p:cNvPr id="6" name="Text 3"/>
            <p:cNvSpPr/>
            <p:nvPr/>
          </p:nvSpPr>
          <p:spPr>
            <a:xfrm>
              <a:off x="784146" y="2637702"/>
              <a:ext cx="2178606" cy="272296"/>
            </a:xfrm>
            <a:prstGeom prst="rect">
              <a:avLst/>
            </a:prstGeom>
            <a:noFill/>
            <a:ln/>
          </p:spPr>
          <p:txBody>
            <a:bodyPr wrap="none" lIns="0" tIns="0" rIns="0" bIns="0" rtlCol="0" anchor="t"/>
            <a:lstStyle/>
            <a:p>
              <a:pPr marL="0" indent="0" algn="l">
                <a:lnSpc>
                  <a:spcPts val="2100"/>
                </a:lnSpc>
                <a:buNone/>
              </a:pPr>
              <a:r>
                <a:rPr lang="en-US" b="1" dirty="0">
                  <a:latin typeface="Arial Black" panose="020B0A04020102020204" pitchFamily="34" charset="0"/>
                  <a:ea typeface="Hubot Sans Bold" pitchFamily="34" charset="-122"/>
                  <a:cs typeface="Hubot Sans Bold" pitchFamily="34" charset="-120"/>
                </a:rPr>
                <a:t>DRAMA</a:t>
              </a:r>
              <a:endParaRPr lang="en-US" dirty="0">
                <a:latin typeface="Arial Black" panose="020B0A04020102020204" pitchFamily="34" charset="0"/>
              </a:endParaRPr>
            </a:p>
          </p:txBody>
        </p:sp>
        <p:sp>
          <p:nvSpPr>
            <p:cNvPr id="7" name="Text 4"/>
            <p:cNvSpPr/>
            <p:nvPr/>
          </p:nvSpPr>
          <p:spPr>
            <a:xfrm>
              <a:off x="784146" y="3014535"/>
              <a:ext cx="4005620" cy="557689"/>
            </a:xfrm>
            <a:prstGeom prst="rect">
              <a:avLst/>
            </a:prstGeom>
            <a:noFill/>
            <a:ln/>
          </p:spPr>
          <p:txBody>
            <a:bodyPr wrap="square" lIns="0" tIns="0" rIns="0" bIns="0" rtlCol="0" anchor="t"/>
            <a:lstStyle/>
            <a:p>
              <a:pPr marL="0" indent="0" algn="l">
                <a:lnSpc>
                  <a:spcPts val="2150"/>
                </a:lnSpc>
                <a:buNone/>
              </a:pPr>
              <a:r>
                <a:rPr lang="en-US" sz="1700" dirty="0">
                  <a:ea typeface="Roboto Condensed" pitchFamily="34" charset="-122"/>
                  <a:cs typeface="Roboto Condensed" pitchFamily="34" charset="-120"/>
                </a:rPr>
                <a:t>The most prevalent genre, reflecting universal appeal and diverse storytelling opportunities across cultures</a:t>
              </a:r>
              <a:endParaRPr lang="en-US" sz="1700" dirty="0"/>
            </a:p>
          </p:txBody>
        </p:sp>
        <p:sp>
          <p:nvSpPr>
            <p:cNvPr id="8" name="Shape 5"/>
            <p:cNvSpPr/>
            <p:nvPr/>
          </p:nvSpPr>
          <p:spPr>
            <a:xfrm>
              <a:off x="5138142" y="1766521"/>
              <a:ext cx="4353997" cy="2231807"/>
            </a:xfrm>
            <a:prstGeom prst="roundRect">
              <a:avLst>
                <a:gd name="adj" fmla="val 1320"/>
              </a:avLst>
            </a:prstGeom>
            <a:solidFill>
              <a:srgbClr val="D8D9D2"/>
            </a:solidFill>
            <a:ln/>
          </p:spPr>
          <p:txBody>
            <a:bodyPr/>
            <a:lstStyle/>
            <a:p>
              <a:endParaRPr lang="en-US"/>
            </a:p>
          </p:txBody>
        </p:sp>
        <p:sp>
          <p:nvSpPr>
            <p:cNvPr id="9" name="Shape 6"/>
            <p:cNvSpPr/>
            <p:nvPr/>
          </p:nvSpPr>
          <p:spPr>
            <a:xfrm>
              <a:off x="5312331" y="1940710"/>
              <a:ext cx="522803" cy="522803"/>
            </a:xfrm>
            <a:prstGeom prst="roundRect">
              <a:avLst>
                <a:gd name="adj" fmla="val 17488587"/>
              </a:avLst>
            </a:prstGeom>
            <a:solidFill>
              <a:srgbClr val="C8CAC1"/>
            </a:solidFill>
            <a:ln/>
          </p:spPr>
          <p:txBody>
            <a:bodyPr/>
            <a:lstStyle/>
            <a:p>
              <a:endParaRPr lang="en-US"/>
            </a:p>
          </p:txBody>
        </p:sp>
        <p:sp>
          <p:nvSpPr>
            <p:cNvPr id="11" name="Text 7"/>
            <p:cNvSpPr/>
            <p:nvPr/>
          </p:nvSpPr>
          <p:spPr>
            <a:xfrm>
              <a:off x="5312331" y="2637702"/>
              <a:ext cx="2178606" cy="272296"/>
            </a:xfrm>
            <a:prstGeom prst="rect">
              <a:avLst/>
            </a:prstGeom>
            <a:noFill/>
            <a:ln/>
          </p:spPr>
          <p:txBody>
            <a:bodyPr wrap="none" lIns="0" tIns="0" rIns="0" bIns="0" rtlCol="0" anchor="t"/>
            <a:lstStyle/>
            <a:p>
              <a:pPr marL="0" indent="0" algn="l">
                <a:lnSpc>
                  <a:spcPts val="2100"/>
                </a:lnSpc>
                <a:buNone/>
              </a:pPr>
              <a:r>
                <a:rPr lang="en-US" b="1" dirty="0">
                  <a:latin typeface="Arial Black" panose="020B0A04020102020204" pitchFamily="34" charset="0"/>
                  <a:ea typeface="Hubot Sans Bold" pitchFamily="34" charset="-122"/>
                  <a:cs typeface="Hubot Sans Bold" pitchFamily="34" charset="-120"/>
                </a:rPr>
                <a:t>DOCUMENTARIES</a:t>
              </a:r>
              <a:endParaRPr lang="en-US" dirty="0">
                <a:latin typeface="Arial Black" panose="020B0A04020102020204" pitchFamily="34" charset="0"/>
              </a:endParaRPr>
            </a:p>
          </p:txBody>
        </p:sp>
        <p:sp>
          <p:nvSpPr>
            <p:cNvPr id="12" name="Text 8"/>
            <p:cNvSpPr/>
            <p:nvPr/>
          </p:nvSpPr>
          <p:spPr>
            <a:xfrm>
              <a:off x="5312331" y="3014535"/>
              <a:ext cx="4005620" cy="557689"/>
            </a:xfrm>
            <a:prstGeom prst="rect">
              <a:avLst/>
            </a:prstGeom>
            <a:noFill/>
            <a:ln/>
          </p:spPr>
          <p:txBody>
            <a:bodyPr wrap="square" lIns="0" tIns="0" rIns="0" bIns="0" rtlCol="0" anchor="t"/>
            <a:lstStyle/>
            <a:p>
              <a:pPr marL="0" indent="0" algn="l">
                <a:lnSpc>
                  <a:spcPts val="2150"/>
                </a:lnSpc>
                <a:buNone/>
              </a:pPr>
              <a:r>
                <a:rPr lang="en-US" sz="1700" dirty="0">
                  <a:ea typeface="Roboto Condensed" pitchFamily="34" charset="-122"/>
                  <a:cs typeface="Roboto Condensed" pitchFamily="34" charset="-120"/>
                </a:rPr>
                <a:t>Strong presence demonstrates Netflix's commitment to educational and reality-based content</a:t>
              </a:r>
              <a:endParaRPr lang="en-US" sz="1700" dirty="0"/>
            </a:p>
          </p:txBody>
        </p:sp>
        <p:sp>
          <p:nvSpPr>
            <p:cNvPr id="13" name="Shape 9"/>
            <p:cNvSpPr/>
            <p:nvPr/>
          </p:nvSpPr>
          <p:spPr>
            <a:xfrm>
              <a:off x="9666327" y="1766521"/>
              <a:ext cx="4353997" cy="2231807"/>
            </a:xfrm>
            <a:prstGeom prst="roundRect">
              <a:avLst>
                <a:gd name="adj" fmla="val 1320"/>
              </a:avLst>
            </a:prstGeom>
            <a:solidFill>
              <a:srgbClr val="D8D9D2"/>
            </a:solidFill>
            <a:ln/>
          </p:spPr>
          <p:txBody>
            <a:bodyPr/>
            <a:lstStyle/>
            <a:p>
              <a:endParaRPr lang="en-US"/>
            </a:p>
          </p:txBody>
        </p:sp>
        <p:sp>
          <p:nvSpPr>
            <p:cNvPr id="14" name="Shape 10"/>
            <p:cNvSpPr/>
            <p:nvPr/>
          </p:nvSpPr>
          <p:spPr>
            <a:xfrm>
              <a:off x="9840516" y="1940710"/>
              <a:ext cx="522803" cy="522803"/>
            </a:xfrm>
            <a:prstGeom prst="roundRect">
              <a:avLst>
                <a:gd name="adj" fmla="val 17488587"/>
              </a:avLst>
            </a:prstGeom>
            <a:solidFill>
              <a:srgbClr val="C8CAC1"/>
            </a:solidFill>
            <a:ln/>
          </p:spPr>
          <p:txBody>
            <a:bodyPr/>
            <a:lstStyle/>
            <a:p>
              <a:endParaRPr lang="en-US"/>
            </a:p>
          </p:txBody>
        </p:sp>
        <p:sp>
          <p:nvSpPr>
            <p:cNvPr id="16" name="Text 11"/>
            <p:cNvSpPr/>
            <p:nvPr/>
          </p:nvSpPr>
          <p:spPr>
            <a:xfrm>
              <a:off x="9840516" y="2637702"/>
              <a:ext cx="2248853" cy="272296"/>
            </a:xfrm>
            <a:prstGeom prst="rect">
              <a:avLst/>
            </a:prstGeom>
            <a:noFill/>
            <a:ln/>
          </p:spPr>
          <p:txBody>
            <a:bodyPr wrap="none" lIns="0" tIns="0" rIns="0" bIns="0" rtlCol="0" anchor="t"/>
            <a:lstStyle/>
            <a:p>
              <a:pPr marL="0" indent="0" algn="l">
                <a:lnSpc>
                  <a:spcPts val="2100"/>
                </a:lnSpc>
                <a:buNone/>
              </a:pPr>
              <a:r>
                <a:rPr lang="en-US" b="1" dirty="0">
                  <a:latin typeface="Arial Black" panose="020B0A04020102020204" pitchFamily="34" charset="0"/>
                  <a:ea typeface="Hubot Sans Bold" pitchFamily="34" charset="-122"/>
                  <a:cs typeface="Hubot Sans Bold" pitchFamily="34" charset="-120"/>
                </a:rPr>
                <a:t>STAND-UP COMEDY</a:t>
              </a:r>
              <a:endParaRPr lang="en-US" dirty="0">
                <a:latin typeface="Arial Black" panose="020B0A04020102020204" pitchFamily="34" charset="0"/>
              </a:endParaRPr>
            </a:p>
          </p:txBody>
        </p:sp>
        <p:sp>
          <p:nvSpPr>
            <p:cNvPr id="17" name="Text 12"/>
            <p:cNvSpPr/>
            <p:nvPr/>
          </p:nvSpPr>
          <p:spPr>
            <a:xfrm>
              <a:off x="9840516" y="3014535"/>
              <a:ext cx="4005620" cy="557689"/>
            </a:xfrm>
            <a:prstGeom prst="rect">
              <a:avLst/>
            </a:prstGeom>
            <a:noFill/>
            <a:ln/>
          </p:spPr>
          <p:txBody>
            <a:bodyPr wrap="square" lIns="0" tIns="0" rIns="0" bIns="0" rtlCol="0" anchor="t"/>
            <a:lstStyle/>
            <a:p>
              <a:pPr marL="0" indent="0" algn="l">
                <a:lnSpc>
                  <a:spcPts val="2150"/>
                </a:lnSpc>
                <a:buNone/>
              </a:pPr>
              <a:r>
                <a:rPr lang="en-US" sz="1700" dirty="0">
                  <a:ea typeface="Roboto Condensed" pitchFamily="34" charset="-122"/>
                  <a:cs typeface="Roboto Condensed" pitchFamily="34" charset="-120"/>
                </a:rPr>
                <a:t>A differentiating category where Netflix has invested heavily in exclusive specials</a:t>
              </a:r>
              <a:endParaRPr lang="en-US" sz="1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3227" y="2098637"/>
              <a:ext cx="235268" cy="235268"/>
            </a:xfrm>
            <a:prstGeom prst="rect">
              <a:avLst/>
            </a:prstGeom>
          </p:spPr>
        </p:pic>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56039" y="2076625"/>
              <a:ext cx="235268" cy="235268"/>
            </a:xfrm>
            <a:prstGeom prst="rect">
              <a:avLst/>
            </a:prstGeom>
          </p:spPr>
        </p:pic>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84224" y="2065172"/>
              <a:ext cx="235268" cy="235268"/>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6" name="Text 2"/>
          <p:cNvSpPr/>
          <p:nvPr/>
        </p:nvSpPr>
        <p:spPr>
          <a:xfrm>
            <a:off x="641984" y="3277969"/>
            <a:ext cx="9411891" cy="560427"/>
          </a:xfrm>
          <a:prstGeom prst="rect">
            <a:avLst/>
          </a:prstGeom>
          <a:noFill/>
          <a:ln/>
        </p:spPr>
        <p:txBody>
          <a:bodyPr wrap="none" lIns="0" tIns="0" rIns="0" bIns="0" rtlCol="0" anchor="t"/>
          <a:lstStyle/>
          <a:p>
            <a:pPr marL="0" indent="0" algn="l">
              <a:lnSpc>
                <a:spcPts val="4400"/>
              </a:lnSpc>
              <a:buNone/>
            </a:pPr>
            <a:r>
              <a:rPr lang="en-US" sz="3200" b="1" dirty="0">
                <a:solidFill>
                  <a:srgbClr val="C00000"/>
                </a:solidFill>
                <a:latin typeface="Arial Black" panose="020B0A04020102020204" pitchFamily="34" charset="0"/>
                <a:ea typeface="Hubot Sans Bold" pitchFamily="34" charset="-122"/>
                <a:cs typeface="Hubot Sans Bold" pitchFamily="34" charset="-120"/>
              </a:rPr>
              <a:t>CONTENT DISTRIBUTION BY COUNTRY</a:t>
            </a:r>
            <a:endParaRPr lang="en-US" sz="3200" dirty="0">
              <a:solidFill>
                <a:srgbClr val="C00000"/>
              </a:solidFill>
              <a:latin typeface="Arial Black" panose="020B0A04020102020204" pitchFamily="34" charset="0"/>
            </a:endParaRPr>
          </a:p>
        </p:txBody>
      </p:sp>
      <p:sp>
        <p:nvSpPr>
          <p:cNvPr id="7" name="Shape 3"/>
          <p:cNvSpPr/>
          <p:nvPr/>
        </p:nvSpPr>
        <p:spPr>
          <a:xfrm>
            <a:off x="627698" y="4099711"/>
            <a:ext cx="4338757" cy="2382559"/>
          </a:xfrm>
          <a:prstGeom prst="roundRect">
            <a:avLst>
              <a:gd name="adj" fmla="val 1041"/>
            </a:avLst>
          </a:prstGeom>
          <a:solidFill>
            <a:srgbClr val="E8E8E3"/>
          </a:solidFill>
          <a:ln w="22860">
            <a:solidFill>
              <a:srgbClr val="C8CAC1"/>
            </a:solidFill>
            <a:prstDash val="solid"/>
          </a:ln>
        </p:spPr>
        <p:txBody>
          <a:bodyPr/>
          <a:lstStyle/>
          <a:p>
            <a:endParaRPr lang="en-US"/>
          </a:p>
        </p:txBody>
      </p:sp>
      <p:sp>
        <p:nvSpPr>
          <p:cNvPr id="8" name="Shape 4"/>
          <p:cNvSpPr/>
          <p:nvPr/>
        </p:nvSpPr>
        <p:spPr>
          <a:xfrm>
            <a:off x="650558" y="4120783"/>
            <a:ext cx="4293037" cy="495849"/>
          </a:xfrm>
          <a:prstGeom prst="rect">
            <a:avLst/>
          </a:prstGeom>
          <a:solidFill>
            <a:schemeClr val="tx1">
              <a:alpha val="50000"/>
            </a:schemeClr>
          </a:solidFill>
          <a:ln/>
        </p:spPr>
        <p:txBody>
          <a:bodyPr/>
          <a:lstStyle/>
          <a:p>
            <a:endParaRPr lang="en-US"/>
          </a:p>
        </p:txBody>
      </p:sp>
      <p:sp>
        <p:nvSpPr>
          <p:cNvPr id="9" name="Text 5"/>
          <p:cNvSpPr/>
          <p:nvPr/>
        </p:nvSpPr>
        <p:spPr>
          <a:xfrm>
            <a:off x="2662595" y="4267329"/>
            <a:ext cx="268962" cy="309934"/>
          </a:xfrm>
          <a:prstGeom prst="rect">
            <a:avLst/>
          </a:prstGeom>
          <a:noFill/>
          <a:ln/>
        </p:spPr>
        <p:txBody>
          <a:bodyPr wrap="none" lIns="0" tIns="0" rIns="0" bIns="0" rtlCol="0" anchor="t"/>
          <a:lstStyle/>
          <a:p>
            <a:pPr marL="0" indent="0" algn="l">
              <a:lnSpc>
                <a:spcPts val="2100"/>
              </a:lnSpc>
              <a:buNone/>
            </a:pPr>
            <a:r>
              <a:rPr lang="en-US" sz="2400" b="1" dirty="0">
                <a:solidFill>
                  <a:srgbClr val="000000"/>
                </a:solidFill>
                <a:latin typeface="Arial Black" panose="020B0A04020102020204" pitchFamily="34" charset="0"/>
                <a:ea typeface="Hubot Sans Bold" pitchFamily="34" charset="-122"/>
                <a:cs typeface="Hubot Sans Bold" pitchFamily="34" charset="-120"/>
              </a:rPr>
              <a:t>1</a:t>
            </a:r>
            <a:endParaRPr lang="en-US" sz="2400" b="1" dirty="0">
              <a:latin typeface="Arial Black" panose="020B0A04020102020204" pitchFamily="34" charset="0"/>
            </a:endParaRPr>
          </a:p>
        </p:txBody>
      </p:sp>
      <p:sp>
        <p:nvSpPr>
          <p:cNvPr id="10" name="Text 6"/>
          <p:cNvSpPr/>
          <p:nvPr/>
        </p:nvSpPr>
        <p:spPr>
          <a:xfrm>
            <a:off x="829866" y="4781915"/>
            <a:ext cx="2241709" cy="258241"/>
          </a:xfrm>
          <a:prstGeom prst="rect">
            <a:avLst/>
          </a:prstGeom>
          <a:noFill/>
          <a:ln/>
        </p:spPr>
        <p:txBody>
          <a:bodyPr wrap="none" lIns="0" tIns="0" rIns="0" bIns="0" rtlCol="0" anchor="t"/>
          <a:lstStyle/>
          <a:p>
            <a:pPr marL="0" indent="0" algn="l">
              <a:lnSpc>
                <a:spcPts val="2200"/>
              </a:lnSpc>
              <a:buNone/>
            </a:pPr>
            <a:r>
              <a:rPr lang="en-US" sz="2000" b="1" dirty="0">
                <a:latin typeface="Arial Black" panose="020B0A04020102020204" pitchFamily="34" charset="0"/>
                <a:ea typeface="Hubot Sans Bold" pitchFamily="34" charset="-122"/>
                <a:cs typeface="Hubot Sans Bold" pitchFamily="34" charset="-120"/>
              </a:rPr>
              <a:t>UNITED STATES</a:t>
            </a:r>
            <a:endParaRPr lang="en-US" sz="2000" dirty="0">
              <a:latin typeface="Arial Black" panose="020B0A04020102020204" pitchFamily="34" charset="0"/>
            </a:endParaRPr>
          </a:p>
        </p:txBody>
      </p:sp>
      <p:sp>
        <p:nvSpPr>
          <p:cNvPr id="11" name="Text 7"/>
          <p:cNvSpPr/>
          <p:nvPr/>
        </p:nvSpPr>
        <p:spPr>
          <a:xfrm>
            <a:off x="829866" y="5139261"/>
            <a:ext cx="3934420" cy="264388"/>
          </a:xfrm>
          <a:prstGeom prst="rect">
            <a:avLst/>
          </a:prstGeom>
          <a:noFill/>
          <a:ln/>
        </p:spPr>
        <p:txBody>
          <a:bodyPr wrap="none" lIns="0" tIns="0" rIns="0" bIns="0" rtlCol="0" anchor="t"/>
          <a:lstStyle/>
          <a:p>
            <a:pPr marL="0" indent="0" algn="l">
              <a:lnSpc>
                <a:spcPts val="2250"/>
              </a:lnSpc>
              <a:buNone/>
            </a:pPr>
            <a:r>
              <a:rPr lang="en-US" b="1" dirty="0">
                <a:ea typeface="Roboto Condensed" pitchFamily="34" charset="-122"/>
                <a:cs typeface="Roboto Condensed" pitchFamily="34" charset="-120"/>
              </a:rPr>
              <a:t>~2,800 titles</a:t>
            </a:r>
            <a:endParaRPr lang="en-US" dirty="0"/>
          </a:p>
        </p:txBody>
      </p:sp>
      <p:sp>
        <p:nvSpPr>
          <p:cNvPr id="12" name="Text 8"/>
          <p:cNvSpPr/>
          <p:nvPr/>
        </p:nvSpPr>
        <p:spPr>
          <a:xfrm>
            <a:off x="829866" y="5502752"/>
            <a:ext cx="3934420" cy="793162"/>
          </a:xfrm>
          <a:prstGeom prst="rect">
            <a:avLst/>
          </a:prstGeom>
          <a:noFill/>
          <a:ln/>
        </p:spPr>
        <p:txBody>
          <a:bodyPr wrap="square" lIns="0" tIns="0" rIns="0" bIns="0" rtlCol="0" anchor="t"/>
          <a:lstStyle/>
          <a:p>
            <a:pPr marL="0" indent="0" algn="l">
              <a:lnSpc>
                <a:spcPts val="2250"/>
              </a:lnSpc>
              <a:buNone/>
            </a:pPr>
            <a:r>
              <a:rPr lang="en-US" dirty="0">
                <a:ea typeface="Roboto Condensed" pitchFamily="34" charset="-122"/>
                <a:cs typeface="Roboto Condensed" pitchFamily="34" charset="-120"/>
              </a:rPr>
              <a:t>Largest contributor, reflecting Netflix's origins and the dominance of Hollywood productions in global streaming</a:t>
            </a:r>
            <a:endParaRPr lang="en-US" dirty="0"/>
          </a:p>
        </p:txBody>
      </p:sp>
      <p:sp>
        <p:nvSpPr>
          <p:cNvPr id="13" name="Shape 9"/>
          <p:cNvSpPr/>
          <p:nvPr/>
        </p:nvSpPr>
        <p:spPr>
          <a:xfrm>
            <a:off x="5145762" y="4099711"/>
            <a:ext cx="4338757" cy="2382559"/>
          </a:xfrm>
          <a:prstGeom prst="roundRect">
            <a:avLst>
              <a:gd name="adj" fmla="val 1041"/>
            </a:avLst>
          </a:prstGeom>
          <a:solidFill>
            <a:srgbClr val="E8E8E3"/>
          </a:solidFill>
          <a:ln w="22860">
            <a:solidFill>
              <a:srgbClr val="C8CAC1"/>
            </a:solidFill>
            <a:prstDash val="solid"/>
          </a:ln>
        </p:spPr>
        <p:txBody>
          <a:bodyPr/>
          <a:lstStyle/>
          <a:p>
            <a:endParaRPr lang="en-US"/>
          </a:p>
        </p:txBody>
      </p:sp>
      <p:sp>
        <p:nvSpPr>
          <p:cNvPr id="14" name="Shape 10"/>
          <p:cNvSpPr/>
          <p:nvPr/>
        </p:nvSpPr>
        <p:spPr>
          <a:xfrm>
            <a:off x="5168622" y="4120783"/>
            <a:ext cx="4293037" cy="495849"/>
          </a:xfrm>
          <a:prstGeom prst="rect">
            <a:avLst/>
          </a:prstGeom>
          <a:solidFill>
            <a:schemeClr val="tx1">
              <a:alpha val="50000"/>
            </a:schemeClr>
          </a:solidFill>
          <a:ln/>
        </p:spPr>
        <p:txBody>
          <a:bodyPr/>
          <a:lstStyle/>
          <a:p>
            <a:endParaRPr lang="en-US"/>
          </a:p>
        </p:txBody>
      </p:sp>
      <p:sp>
        <p:nvSpPr>
          <p:cNvPr id="15" name="Text 11"/>
          <p:cNvSpPr/>
          <p:nvPr/>
        </p:nvSpPr>
        <p:spPr>
          <a:xfrm>
            <a:off x="7180659" y="4251054"/>
            <a:ext cx="268962" cy="309934"/>
          </a:xfrm>
          <a:prstGeom prst="rect">
            <a:avLst/>
          </a:prstGeom>
          <a:noFill/>
          <a:ln/>
        </p:spPr>
        <p:txBody>
          <a:bodyPr wrap="none" lIns="0" tIns="0" rIns="0" bIns="0" rtlCol="0" anchor="t"/>
          <a:lstStyle/>
          <a:p>
            <a:pPr marL="0" indent="0" algn="l">
              <a:lnSpc>
                <a:spcPts val="2100"/>
              </a:lnSpc>
              <a:buNone/>
            </a:pPr>
            <a:r>
              <a:rPr lang="en-US" sz="2400" b="1" dirty="0">
                <a:solidFill>
                  <a:srgbClr val="000000"/>
                </a:solidFill>
                <a:latin typeface="Arial Black" panose="020B0A04020102020204" pitchFamily="34" charset="0"/>
                <a:ea typeface="Hubot Sans Bold" pitchFamily="34" charset="-122"/>
                <a:cs typeface="Hubot Sans Bold" pitchFamily="34" charset="-120"/>
              </a:rPr>
              <a:t>2</a:t>
            </a:r>
            <a:endParaRPr lang="en-US" sz="2400" b="1" dirty="0">
              <a:latin typeface="Arial Black" panose="020B0A04020102020204" pitchFamily="34" charset="0"/>
            </a:endParaRPr>
          </a:p>
        </p:txBody>
      </p:sp>
      <p:sp>
        <p:nvSpPr>
          <p:cNvPr id="16" name="Text 12"/>
          <p:cNvSpPr/>
          <p:nvPr/>
        </p:nvSpPr>
        <p:spPr>
          <a:xfrm>
            <a:off x="5347930" y="4781915"/>
            <a:ext cx="2241709" cy="258241"/>
          </a:xfrm>
          <a:prstGeom prst="rect">
            <a:avLst/>
          </a:prstGeom>
          <a:noFill/>
          <a:ln/>
        </p:spPr>
        <p:txBody>
          <a:bodyPr wrap="none" lIns="0" tIns="0" rIns="0" bIns="0" rtlCol="0" anchor="t"/>
          <a:lstStyle/>
          <a:p>
            <a:pPr marL="0" indent="0" algn="l">
              <a:lnSpc>
                <a:spcPts val="2200"/>
              </a:lnSpc>
              <a:buNone/>
            </a:pPr>
            <a:r>
              <a:rPr lang="en-US" sz="2000" b="1" dirty="0">
                <a:latin typeface="Arial Black" panose="020B0A04020102020204" pitchFamily="34" charset="0"/>
                <a:ea typeface="Hubot Sans Bold" pitchFamily="34" charset="-122"/>
                <a:cs typeface="Hubot Sans Bold" pitchFamily="34" charset="-120"/>
              </a:rPr>
              <a:t>INDIA</a:t>
            </a:r>
            <a:endParaRPr lang="en-US" sz="2000" dirty="0">
              <a:latin typeface="Arial Black" panose="020B0A04020102020204" pitchFamily="34" charset="0"/>
            </a:endParaRPr>
          </a:p>
        </p:txBody>
      </p:sp>
      <p:sp>
        <p:nvSpPr>
          <p:cNvPr id="17" name="Text 13"/>
          <p:cNvSpPr/>
          <p:nvPr/>
        </p:nvSpPr>
        <p:spPr>
          <a:xfrm>
            <a:off x="5347930" y="5139261"/>
            <a:ext cx="3934420" cy="264388"/>
          </a:xfrm>
          <a:prstGeom prst="rect">
            <a:avLst/>
          </a:prstGeom>
          <a:noFill/>
          <a:ln/>
        </p:spPr>
        <p:txBody>
          <a:bodyPr wrap="none" lIns="0" tIns="0" rIns="0" bIns="0" rtlCol="0" anchor="t"/>
          <a:lstStyle/>
          <a:p>
            <a:pPr marL="0" indent="0" algn="l">
              <a:lnSpc>
                <a:spcPts val="2250"/>
              </a:lnSpc>
              <a:buNone/>
            </a:pPr>
            <a:r>
              <a:rPr lang="en-US" b="1" dirty="0">
                <a:ea typeface="Roboto Condensed" pitchFamily="34" charset="-122"/>
                <a:cs typeface="Roboto Condensed" pitchFamily="34" charset="-120"/>
              </a:rPr>
              <a:t>970 titles</a:t>
            </a:r>
            <a:endParaRPr lang="en-US" dirty="0"/>
          </a:p>
        </p:txBody>
      </p:sp>
      <p:sp>
        <p:nvSpPr>
          <p:cNvPr id="18" name="Text 14"/>
          <p:cNvSpPr/>
          <p:nvPr/>
        </p:nvSpPr>
        <p:spPr>
          <a:xfrm>
            <a:off x="5347930" y="5502752"/>
            <a:ext cx="3934420" cy="793162"/>
          </a:xfrm>
          <a:prstGeom prst="rect">
            <a:avLst/>
          </a:prstGeom>
          <a:noFill/>
          <a:ln/>
        </p:spPr>
        <p:txBody>
          <a:bodyPr wrap="square" lIns="0" tIns="0" rIns="0" bIns="0" rtlCol="0" anchor="t"/>
          <a:lstStyle/>
          <a:p>
            <a:pPr marL="0" indent="0" algn="l">
              <a:lnSpc>
                <a:spcPts val="2250"/>
              </a:lnSpc>
              <a:buNone/>
            </a:pPr>
            <a:r>
              <a:rPr lang="en-US" dirty="0">
                <a:ea typeface="Roboto Condensed" pitchFamily="34" charset="-122"/>
                <a:cs typeface="Roboto Condensed" pitchFamily="34" charset="-120"/>
              </a:rPr>
              <a:t>Rapidly growing market with significant local content investment, including Bollywood films and regional productions</a:t>
            </a:r>
            <a:endParaRPr lang="en-US" dirty="0"/>
          </a:p>
        </p:txBody>
      </p:sp>
      <p:sp>
        <p:nvSpPr>
          <p:cNvPr id="19" name="Shape 15"/>
          <p:cNvSpPr/>
          <p:nvPr/>
        </p:nvSpPr>
        <p:spPr>
          <a:xfrm>
            <a:off x="9663827" y="4099711"/>
            <a:ext cx="4338876" cy="2382559"/>
          </a:xfrm>
          <a:prstGeom prst="roundRect">
            <a:avLst>
              <a:gd name="adj" fmla="val 1041"/>
            </a:avLst>
          </a:prstGeom>
          <a:solidFill>
            <a:srgbClr val="E8E8E3"/>
          </a:solidFill>
          <a:ln w="22860">
            <a:solidFill>
              <a:srgbClr val="C8CAC1"/>
            </a:solidFill>
            <a:prstDash val="solid"/>
          </a:ln>
        </p:spPr>
        <p:txBody>
          <a:bodyPr/>
          <a:lstStyle/>
          <a:p>
            <a:endParaRPr lang="en-US"/>
          </a:p>
        </p:txBody>
      </p:sp>
      <p:sp>
        <p:nvSpPr>
          <p:cNvPr id="20" name="Shape 16"/>
          <p:cNvSpPr/>
          <p:nvPr/>
        </p:nvSpPr>
        <p:spPr>
          <a:xfrm>
            <a:off x="9686687" y="4120783"/>
            <a:ext cx="4293156" cy="495849"/>
          </a:xfrm>
          <a:prstGeom prst="rect">
            <a:avLst/>
          </a:prstGeom>
          <a:solidFill>
            <a:schemeClr val="tx1">
              <a:alpha val="50000"/>
            </a:schemeClr>
          </a:solidFill>
          <a:ln/>
        </p:spPr>
        <p:txBody>
          <a:bodyPr/>
          <a:lstStyle/>
          <a:p>
            <a:endParaRPr lang="en-US"/>
          </a:p>
        </p:txBody>
      </p:sp>
      <p:sp>
        <p:nvSpPr>
          <p:cNvPr id="21" name="Text 17"/>
          <p:cNvSpPr/>
          <p:nvPr/>
        </p:nvSpPr>
        <p:spPr>
          <a:xfrm>
            <a:off x="11698724" y="4251054"/>
            <a:ext cx="268962" cy="309934"/>
          </a:xfrm>
          <a:prstGeom prst="rect">
            <a:avLst/>
          </a:prstGeom>
          <a:noFill/>
          <a:ln/>
        </p:spPr>
        <p:txBody>
          <a:bodyPr wrap="none" lIns="0" tIns="0" rIns="0" bIns="0" rtlCol="0" anchor="t"/>
          <a:lstStyle/>
          <a:p>
            <a:pPr marL="0" indent="0" algn="l">
              <a:lnSpc>
                <a:spcPts val="2100"/>
              </a:lnSpc>
              <a:buNone/>
            </a:pPr>
            <a:r>
              <a:rPr lang="en-US" sz="2400" b="1" dirty="0">
                <a:solidFill>
                  <a:srgbClr val="000000"/>
                </a:solidFill>
                <a:latin typeface="Arial Black" panose="020B0A04020102020204" pitchFamily="34" charset="0"/>
                <a:ea typeface="Hubot Sans Bold" pitchFamily="34" charset="-122"/>
                <a:cs typeface="Hubot Sans Bold" pitchFamily="34" charset="-120"/>
              </a:rPr>
              <a:t>3</a:t>
            </a:r>
            <a:endParaRPr lang="en-US" sz="2400" b="1" dirty="0">
              <a:latin typeface="Arial Black" panose="020B0A04020102020204" pitchFamily="34" charset="0"/>
            </a:endParaRPr>
          </a:p>
        </p:txBody>
      </p:sp>
      <p:sp>
        <p:nvSpPr>
          <p:cNvPr id="22" name="Text 18"/>
          <p:cNvSpPr/>
          <p:nvPr/>
        </p:nvSpPr>
        <p:spPr>
          <a:xfrm>
            <a:off x="9865995" y="4781915"/>
            <a:ext cx="2241709" cy="258241"/>
          </a:xfrm>
          <a:prstGeom prst="rect">
            <a:avLst/>
          </a:prstGeom>
          <a:noFill/>
          <a:ln/>
        </p:spPr>
        <p:txBody>
          <a:bodyPr wrap="none" lIns="0" tIns="0" rIns="0" bIns="0" rtlCol="0" anchor="t"/>
          <a:lstStyle/>
          <a:p>
            <a:pPr marL="0" indent="0" algn="l">
              <a:lnSpc>
                <a:spcPts val="2200"/>
              </a:lnSpc>
              <a:buNone/>
            </a:pPr>
            <a:r>
              <a:rPr lang="en-US" sz="2000" b="1" dirty="0">
                <a:latin typeface="Arial Black" panose="020B0A04020102020204" pitchFamily="34" charset="0"/>
                <a:ea typeface="Hubot Sans Bold" pitchFamily="34" charset="-122"/>
                <a:cs typeface="Hubot Sans Bold" pitchFamily="34" charset="-120"/>
              </a:rPr>
              <a:t>UNITED KINGDOM</a:t>
            </a:r>
            <a:endParaRPr lang="en-US" sz="2000" dirty="0">
              <a:latin typeface="Arial Black" panose="020B0A04020102020204" pitchFamily="34" charset="0"/>
            </a:endParaRPr>
          </a:p>
        </p:txBody>
      </p:sp>
      <p:sp>
        <p:nvSpPr>
          <p:cNvPr id="23" name="Text 19"/>
          <p:cNvSpPr/>
          <p:nvPr/>
        </p:nvSpPr>
        <p:spPr>
          <a:xfrm>
            <a:off x="9865995" y="5139261"/>
            <a:ext cx="3934539" cy="264388"/>
          </a:xfrm>
          <a:prstGeom prst="rect">
            <a:avLst/>
          </a:prstGeom>
          <a:noFill/>
          <a:ln/>
        </p:spPr>
        <p:txBody>
          <a:bodyPr wrap="none" lIns="0" tIns="0" rIns="0" bIns="0" rtlCol="0" anchor="t"/>
          <a:lstStyle/>
          <a:p>
            <a:pPr marL="0" indent="0" algn="l">
              <a:lnSpc>
                <a:spcPts val="2250"/>
              </a:lnSpc>
              <a:buNone/>
            </a:pPr>
            <a:r>
              <a:rPr lang="en-US" b="1" dirty="0">
                <a:ea typeface="Roboto Condensed" pitchFamily="34" charset="-122"/>
                <a:cs typeface="Roboto Condensed" pitchFamily="34" charset="-120"/>
              </a:rPr>
              <a:t>420 titles</a:t>
            </a:r>
            <a:endParaRPr lang="en-US" dirty="0"/>
          </a:p>
        </p:txBody>
      </p:sp>
      <p:sp>
        <p:nvSpPr>
          <p:cNvPr id="24" name="Text 20"/>
          <p:cNvSpPr/>
          <p:nvPr/>
        </p:nvSpPr>
        <p:spPr>
          <a:xfrm>
            <a:off x="9865995" y="5502752"/>
            <a:ext cx="3934539" cy="793162"/>
          </a:xfrm>
          <a:prstGeom prst="rect">
            <a:avLst/>
          </a:prstGeom>
          <a:noFill/>
          <a:ln/>
        </p:spPr>
        <p:txBody>
          <a:bodyPr wrap="square" lIns="0" tIns="0" rIns="0" bIns="0" rtlCol="0" anchor="t"/>
          <a:lstStyle/>
          <a:p>
            <a:pPr marL="0" indent="0" algn="l">
              <a:lnSpc>
                <a:spcPts val="2250"/>
              </a:lnSpc>
              <a:buNone/>
            </a:pPr>
            <a:r>
              <a:rPr lang="en-US" dirty="0">
                <a:ea typeface="Roboto Condensed" pitchFamily="34" charset="-122"/>
                <a:cs typeface="Roboto Condensed" pitchFamily="34" charset="-120"/>
              </a:rPr>
              <a:t>Strong presence of British drama, comedy, and documentary content appealing to English-speaking markets</a:t>
            </a:r>
            <a:endParaRPr lang="en-US" dirty="0"/>
          </a:p>
        </p:txBody>
      </p:sp>
      <p:sp>
        <p:nvSpPr>
          <p:cNvPr id="25" name="Text 21"/>
          <p:cNvSpPr/>
          <p:nvPr/>
        </p:nvSpPr>
        <p:spPr>
          <a:xfrm>
            <a:off x="896660" y="6878066"/>
            <a:ext cx="13106043" cy="573643"/>
          </a:xfrm>
          <a:prstGeom prst="rect">
            <a:avLst/>
          </a:prstGeom>
          <a:noFill/>
          <a:ln/>
        </p:spPr>
        <p:txBody>
          <a:bodyPr wrap="square" lIns="0" tIns="0" rIns="0" bIns="0" rtlCol="0" anchor="t"/>
          <a:lstStyle/>
          <a:p>
            <a:pPr marL="0" indent="0" algn="l">
              <a:lnSpc>
                <a:spcPts val="2250"/>
              </a:lnSpc>
              <a:buNone/>
            </a:pPr>
            <a:r>
              <a:rPr lang="en-US" b="1" dirty="0">
                <a:ea typeface="Roboto Condensed" pitchFamily="34" charset="-122"/>
                <a:cs typeface="Roboto Condensed" pitchFamily="34" charset="-120"/>
              </a:rPr>
              <a:t>International Strategy:</a:t>
            </a:r>
            <a:r>
              <a:rPr lang="en-US" dirty="0">
                <a:ea typeface="Roboto Condensed" pitchFamily="34" charset="-122"/>
                <a:cs typeface="Roboto Condensed" pitchFamily="34" charset="-120"/>
              </a:rPr>
              <a:t> The substantial representation of content from India, the UK, South Korea, and other markets underscores Netflix's localisation strategy. Investing in regional content not only serves local audiences but also introduces international viewers to diverse storytelling traditions, driving global subscriber growth.</a:t>
            </a:r>
            <a:endParaRPr lang="en-US" dirty="0"/>
          </a:p>
        </p:txBody>
      </p:sp>
      <p:sp>
        <p:nvSpPr>
          <p:cNvPr id="26" name="Shape 22"/>
          <p:cNvSpPr/>
          <p:nvPr/>
        </p:nvSpPr>
        <p:spPr>
          <a:xfrm>
            <a:off x="627698" y="6816981"/>
            <a:ext cx="22860" cy="977027"/>
          </a:xfrm>
          <a:prstGeom prst="rect">
            <a:avLst/>
          </a:prstGeom>
          <a:solidFill>
            <a:srgbClr val="1E1E1A"/>
          </a:solidFill>
          <a:ln/>
        </p:spPr>
        <p:txBody>
          <a:bodyPr/>
          <a:lstStyle/>
          <a:p>
            <a:endParaRPr lang="en-US"/>
          </a:p>
        </p:txBody>
      </p:sp>
      <p:pic>
        <p:nvPicPr>
          <p:cNvPr id="30" name="Picture 29" descr="A red letter on a black background&#10;&#10;AI-generated content may be incorrect.">
            <a:extLst>
              <a:ext uri="{FF2B5EF4-FFF2-40B4-BE49-F238E27FC236}">
                <a16:creationId xmlns:a16="http://schemas.microsoft.com/office/drawing/2014/main" id="{16942A08-6D1E-D946-8CEE-89905A5DDAD6}"/>
              </a:ext>
            </a:extLst>
          </p:cNvPr>
          <p:cNvPicPr>
            <a:picLocks noChangeAspect="1"/>
          </p:cNvPicPr>
          <p:nvPr/>
        </p:nvPicPr>
        <p:blipFill>
          <a:blip r:embed="rId3"/>
          <a:srcRect t="14441" b="14576"/>
          <a:stretch>
            <a:fillRect/>
          </a:stretch>
        </p:blipFill>
        <p:spPr>
          <a:xfrm>
            <a:off x="0" y="1665"/>
            <a:ext cx="14630400" cy="2584729"/>
          </a:xfrm>
          <a:prstGeom prst="rect">
            <a:avLst/>
          </a:prstGeom>
        </p:spPr>
      </p:pic>
      <p:grpSp>
        <p:nvGrpSpPr>
          <p:cNvPr id="31" name="Group 30">
            <a:extLst>
              <a:ext uri="{FF2B5EF4-FFF2-40B4-BE49-F238E27FC236}">
                <a16:creationId xmlns:a16="http://schemas.microsoft.com/office/drawing/2014/main" id="{E4308530-05A7-A012-7F34-644E73B6E7EC}"/>
              </a:ext>
            </a:extLst>
          </p:cNvPr>
          <p:cNvGrpSpPr/>
          <p:nvPr/>
        </p:nvGrpSpPr>
        <p:grpSpPr>
          <a:xfrm>
            <a:off x="896660" y="2864611"/>
            <a:ext cx="3287474" cy="421826"/>
            <a:chOff x="854426" y="2827606"/>
            <a:chExt cx="1799630" cy="336947"/>
          </a:xfrm>
        </p:grpSpPr>
        <p:sp>
          <p:nvSpPr>
            <p:cNvPr id="3" name="Shape 0"/>
            <p:cNvSpPr/>
            <p:nvPr/>
          </p:nvSpPr>
          <p:spPr>
            <a:xfrm>
              <a:off x="854426" y="2827606"/>
              <a:ext cx="1799630" cy="336947"/>
            </a:xfrm>
            <a:prstGeom prst="roundRect">
              <a:avLst>
                <a:gd name="adj" fmla="val 6387"/>
              </a:avLst>
            </a:prstGeom>
            <a:solidFill>
              <a:srgbClr val="E7E7E4"/>
            </a:solidFill>
            <a:ln/>
          </p:spPr>
          <p:txBody>
            <a:bodyPr/>
            <a:lstStyle/>
            <a:p>
              <a:endParaRPr lang="en-US" sz="2800"/>
            </a:p>
          </p:txBody>
        </p:sp>
        <p:sp>
          <p:nvSpPr>
            <p:cNvPr id="5" name="Text 1"/>
            <p:cNvSpPr/>
            <p:nvPr/>
          </p:nvSpPr>
          <p:spPr>
            <a:xfrm>
              <a:off x="935443" y="2884935"/>
              <a:ext cx="1369457" cy="229552"/>
            </a:xfrm>
            <a:prstGeom prst="rect">
              <a:avLst/>
            </a:prstGeom>
            <a:noFill/>
            <a:ln/>
          </p:spPr>
          <p:txBody>
            <a:bodyPr wrap="none" lIns="0" tIns="0" rIns="0" bIns="0" rtlCol="0" anchor="t"/>
            <a:lstStyle/>
            <a:p>
              <a:pPr marL="0" indent="0" algn="l">
                <a:lnSpc>
                  <a:spcPts val="1800"/>
                </a:lnSpc>
                <a:buNone/>
              </a:pPr>
              <a:r>
                <a:rPr lang="en-US" sz="2000" b="1" dirty="0">
                  <a:latin typeface="Arial Black" panose="020B0A04020102020204" pitchFamily="34" charset="0"/>
                  <a:ea typeface="Roboto Condensed" pitchFamily="34" charset="-122"/>
                  <a:cs typeface="Roboto Condensed" pitchFamily="34" charset="-120"/>
                </a:rPr>
                <a:t>GEOGRAPHIC ANLYSIS</a:t>
              </a:r>
              <a:endParaRPr lang="en-US" sz="2000" b="1" dirty="0">
                <a:latin typeface="Arial Black" panose="020B0A04020102020204" pitchFamily="34" charset="0"/>
              </a:endParaRPr>
            </a:p>
          </p:txBody>
        </p:sp>
      </p:gr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696" y="2894737"/>
            <a:ext cx="262083" cy="238626"/>
          </a:xfrm>
          <a:prstGeom prst="rect">
            <a:avLst/>
          </a:prstGeom>
        </p:spPr>
      </p:pic>
      <p:sp>
        <p:nvSpPr>
          <p:cNvPr id="35" name="Rectangle 34">
            <a:extLst>
              <a:ext uri="{FF2B5EF4-FFF2-40B4-BE49-F238E27FC236}">
                <a16:creationId xmlns:a16="http://schemas.microsoft.com/office/drawing/2014/main" id="{E87C9EA0-82FD-512B-BC1C-D9A98D77CB26}"/>
              </a:ext>
            </a:extLst>
          </p:cNvPr>
          <p:cNvSpPr/>
          <p:nvPr/>
        </p:nvSpPr>
        <p:spPr>
          <a:xfrm>
            <a:off x="12298680" y="7586168"/>
            <a:ext cx="2331720" cy="573644"/>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13874" y="616478"/>
            <a:ext cx="6449497" cy="458748"/>
          </a:xfrm>
          <a:prstGeom prst="rect">
            <a:avLst/>
          </a:prstGeom>
          <a:noFill/>
          <a:ln/>
        </p:spPr>
        <p:txBody>
          <a:bodyPr wrap="none" lIns="0" tIns="0" rIns="0" bIns="0" rtlCol="0" anchor="t"/>
          <a:lstStyle/>
          <a:p>
            <a:pPr marL="0" indent="0" algn="l">
              <a:lnSpc>
                <a:spcPts val="3600"/>
              </a:lnSpc>
              <a:buNone/>
            </a:pPr>
            <a:r>
              <a:rPr lang="en-US" sz="3600" b="1" dirty="0">
                <a:latin typeface="Arial Black" panose="020B0A04020102020204" pitchFamily="34" charset="0"/>
                <a:ea typeface="Hubot Sans Bold" pitchFamily="34" charset="-122"/>
                <a:cs typeface="Hubot Sans Bold" pitchFamily="34" charset="-120"/>
              </a:rPr>
              <a:t>SQL-BASED BUSINESS ANALYSIS</a:t>
            </a:r>
            <a:endParaRPr lang="en-US" sz="3600" b="1" dirty="0">
              <a:latin typeface="Arial Black" panose="020B0A04020102020204" pitchFamily="34" charset="0"/>
            </a:endParaRPr>
          </a:p>
        </p:txBody>
      </p:sp>
      <p:sp>
        <p:nvSpPr>
          <p:cNvPr id="4" name="Text 1"/>
          <p:cNvSpPr/>
          <p:nvPr/>
        </p:nvSpPr>
        <p:spPr>
          <a:xfrm>
            <a:off x="6790623" y="2443061"/>
            <a:ext cx="4216479" cy="437903"/>
          </a:xfrm>
          <a:prstGeom prst="rect">
            <a:avLst/>
          </a:prstGeom>
          <a:noFill/>
          <a:ln/>
        </p:spPr>
        <p:txBody>
          <a:bodyPr wrap="none" lIns="0" tIns="0" rIns="0" bIns="0" rtlCol="0" anchor="t"/>
          <a:lstStyle/>
          <a:p>
            <a:pPr marL="0" indent="0" algn="l">
              <a:lnSpc>
                <a:spcPts val="2150"/>
              </a:lnSpc>
              <a:buNone/>
            </a:pPr>
            <a:r>
              <a:rPr lang="en-US" sz="2800" b="1" dirty="0">
                <a:solidFill>
                  <a:srgbClr val="C00000"/>
                </a:solidFill>
                <a:latin typeface="Arial Black" panose="020B0A04020102020204" pitchFamily="34" charset="0"/>
                <a:ea typeface="Hubot Sans Bold" pitchFamily="34" charset="-122"/>
                <a:cs typeface="Hubot Sans Bold" pitchFamily="34" charset="-120"/>
              </a:rPr>
              <a:t>STRUCTURED, SCALABLE INSIGHTS</a:t>
            </a:r>
            <a:endParaRPr lang="en-US" sz="2800" dirty="0">
              <a:solidFill>
                <a:srgbClr val="C00000"/>
              </a:solidFill>
              <a:latin typeface="Arial Black" panose="020B0A04020102020204" pitchFamily="34" charset="0"/>
            </a:endParaRPr>
          </a:p>
        </p:txBody>
      </p:sp>
      <p:sp>
        <p:nvSpPr>
          <p:cNvPr id="5" name="Text 2"/>
          <p:cNvSpPr/>
          <p:nvPr/>
        </p:nvSpPr>
        <p:spPr>
          <a:xfrm>
            <a:off x="6790623" y="2933210"/>
            <a:ext cx="7320201" cy="747008"/>
          </a:xfrm>
          <a:prstGeom prst="rect">
            <a:avLst/>
          </a:prstGeom>
          <a:noFill/>
          <a:ln/>
        </p:spPr>
        <p:txBody>
          <a:bodyPr wrap="square" lIns="0" tIns="0" rIns="0" bIns="0" rtlCol="0" anchor="t"/>
          <a:lstStyle/>
          <a:p>
            <a:pPr marL="0" indent="0" algn="l">
              <a:buNone/>
            </a:pPr>
            <a:r>
              <a:rPr lang="en-US" sz="2400" dirty="0">
                <a:ea typeface="Roboto Condensed" pitchFamily="34" charset="-122"/>
                <a:cs typeface="Roboto Condensed" pitchFamily="34" charset="-120"/>
              </a:rPr>
              <a:t>SQL queries provided rigorous validation of Python-based exploratory findings, ensuring data integrity and enabling repeatable analysis for stakeholder reporting.</a:t>
            </a:r>
            <a:endParaRPr lang="en-US" sz="240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3874" y="5397824"/>
            <a:ext cx="367070" cy="435326"/>
          </a:xfrm>
          <a:prstGeom prst="rect">
            <a:avLst/>
          </a:prstGeom>
        </p:spPr>
      </p:pic>
      <p:sp>
        <p:nvSpPr>
          <p:cNvPr id="7" name="Text 3"/>
          <p:cNvSpPr/>
          <p:nvPr/>
        </p:nvSpPr>
        <p:spPr>
          <a:xfrm>
            <a:off x="1064419" y="5397824"/>
            <a:ext cx="3099673" cy="272095"/>
          </a:xfrm>
          <a:prstGeom prst="rect">
            <a:avLst/>
          </a:prstGeom>
          <a:noFill/>
          <a:ln/>
        </p:spPr>
        <p:txBody>
          <a:bodyPr wrap="none" lIns="0" tIns="0" rIns="0" bIns="0" rtlCol="0" anchor="t"/>
          <a:lstStyle/>
          <a:p>
            <a:pPr marL="0" indent="0" algn="l">
              <a:lnSpc>
                <a:spcPts val="1800"/>
              </a:lnSpc>
              <a:buNone/>
            </a:pPr>
            <a:r>
              <a:rPr lang="en-US" sz="2000" b="1" dirty="0">
                <a:latin typeface="Arial Black" panose="020B0A04020102020204" pitchFamily="34" charset="0"/>
                <a:ea typeface="Hubot Sans Bold" pitchFamily="34" charset="-122"/>
                <a:cs typeface="Hubot Sans Bold" pitchFamily="34" charset="-120"/>
              </a:rPr>
              <a:t>CONTENT TYPE DISTRIBUTION</a:t>
            </a:r>
            <a:endParaRPr lang="en-US" sz="2000" dirty="0">
              <a:latin typeface="Arial Black" panose="020B0A04020102020204" pitchFamily="34" charset="0"/>
            </a:endParaRPr>
          </a:p>
        </p:txBody>
      </p:sp>
      <p:sp>
        <p:nvSpPr>
          <p:cNvPr id="8" name="Text 4"/>
          <p:cNvSpPr/>
          <p:nvPr/>
        </p:nvSpPr>
        <p:spPr>
          <a:xfrm>
            <a:off x="1064419" y="5752799"/>
            <a:ext cx="6158984" cy="278450"/>
          </a:xfrm>
          <a:prstGeom prst="rect">
            <a:avLst/>
          </a:prstGeom>
          <a:noFill/>
          <a:ln/>
        </p:spPr>
        <p:txBody>
          <a:bodyPr wrap="none" lIns="0" tIns="0" rIns="0" bIns="0" rtlCol="0" anchor="t"/>
          <a:lstStyle/>
          <a:p>
            <a:pPr marL="0" indent="0" algn="l">
              <a:lnSpc>
                <a:spcPts val="1850"/>
              </a:lnSpc>
              <a:buNone/>
            </a:pPr>
            <a:r>
              <a:rPr lang="en-US" dirty="0">
                <a:ea typeface="Roboto Condensed" pitchFamily="34" charset="-122"/>
                <a:cs typeface="Roboto Condensed" pitchFamily="34" charset="-120"/>
              </a:rPr>
              <a:t>Confirmed 70/30 split between movies and TV shows through </a:t>
            </a:r>
          </a:p>
          <a:p>
            <a:pPr marL="0" indent="0" algn="l">
              <a:lnSpc>
                <a:spcPts val="1850"/>
              </a:lnSpc>
              <a:buNone/>
            </a:pPr>
            <a:r>
              <a:rPr lang="en-US" dirty="0">
                <a:ea typeface="Roboto Condensed" pitchFamily="34" charset="-122"/>
                <a:cs typeface="Roboto Condensed" pitchFamily="34" charset="-120"/>
              </a:rPr>
              <a:t>aggregate queries</a:t>
            </a:r>
            <a:endParaRPr lang="en-US" dirty="0"/>
          </a:p>
        </p:txBody>
      </p:sp>
      <p:pic>
        <p:nvPicPr>
          <p:cNvPr id="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6598" y="5376710"/>
            <a:ext cx="427349" cy="506813"/>
          </a:xfrm>
          <a:prstGeom prst="rect">
            <a:avLst/>
          </a:prstGeom>
        </p:spPr>
      </p:pic>
      <p:sp>
        <p:nvSpPr>
          <p:cNvPr id="10" name="Text 5"/>
          <p:cNvSpPr/>
          <p:nvPr/>
        </p:nvSpPr>
        <p:spPr>
          <a:xfrm>
            <a:off x="7957423" y="5397823"/>
            <a:ext cx="2870002" cy="272095"/>
          </a:xfrm>
          <a:prstGeom prst="rect">
            <a:avLst/>
          </a:prstGeom>
          <a:noFill/>
          <a:ln/>
        </p:spPr>
        <p:txBody>
          <a:bodyPr wrap="none" lIns="0" tIns="0" rIns="0" bIns="0" rtlCol="0" anchor="t"/>
          <a:lstStyle/>
          <a:p>
            <a:pPr marL="0" indent="0" algn="l">
              <a:lnSpc>
                <a:spcPts val="1800"/>
              </a:lnSpc>
              <a:buNone/>
            </a:pPr>
            <a:r>
              <a:rPr lang="en-US" sz="2000" b="1" dirty="0">
                <a:latin typeface="Arial Black" panose="020B0A04020102020204" pitchFamily="34" charset="0"/>
                <a:ea typeface="Hubot Sans Bold" pitchFamily="34" charset="-122"/>
                <a:cs typeface="Hubot Sans Bold" pitchFamily="34" charset="-120"/>
              </a:rPr>
              <a:t>TOP 10 GENRES &amp; COUNTRIES</a:t>
            </a:r>
            <a:endParaRPr lang="en-US" sz="2000" dirty="0">
              <a:latin typeface="Arial Black" panose="020B0A04020102020204" pitchFamily="34" charset="0"/>
            </a:endParaRPr>
          </a:p>
        </p:txBody>
      </p:sp>
      <p:sp>
        <p:nvSpPr>
          <p:cNvPr id="11" name="Text 6"/>
          <p:cNvSpPr/>
          <p:nvPr/>
        </p:nvSpPr>
        <p:spPr>
          <a:xfrm>
            <a:off x="7951721" y="5767045"/>
            <a:ext cx="6159103" cy="278450"/>
          </a:xfrm>
          <a:prstGeom prst="rect">
            <a:avLst/>
          </a:prstGeom>
          <a:noFill/>
          <a:ln/>
        </p:spPr>
        <p:txBody>
          <a:bodyPr wrap="none" lIns="0" tIns="0" rIns="0" bIns="0" rtlCol="0" anchor="t"/>
          <a:lstStyle/>
          <a:p>
            <a:pPr marL="0" indent="0" algn="l">
              <a:lnSpc>
                <a:spcPts val="1850"/>
              </a:lnSpc>
              <a:buNone/>
            </a:pPr>
            <a:r>
              <a:rPr lang="en-US" dirty="0">
                <a:ea typeface="Roboto Condensed" pitchFamily="34" charset="-122"/>
                <a:cs typeface="Roboto Condensed" pitchFamily="34" charset="-120"/>
              </a:rPr>
              <a:t>Ranked content by frequency to identify strategic focus areas</a:t>
            </a:r>
            <a:endParaRPr lang="en-US" dirty="0"/>
          </a:p>
        </p:txBody>
      </p:sp>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3874" y="6510377"/>
            <a:ext cx="367070" cy="435326"/>
          </a:xfrm>
          <a:prstGeom prst="rect">
            <a:avLst/>
          </a:prstGeom>
        </p:spPr>
      </p:pic>
      <p:sp>
        <p:nvSpPr>
          <p:cNvPr id="13" name="Text 7"/>
          <p:cNvSpPr/>
          <p:nvPr/>
        </p:nvSpPr>
        <p:spPr>
          <a:xfrm>
            <a:off x="1064419" y="6560436"/>
            <a:ext cx="1960483" cy="272095"/>
          </a:xfrm>
          <a:prstGeom prst="rect">
            <a:avLst/>
          </a:prstGeom>
          <a:noFill/>
          <a:ln/>
        </p:spPr>
        <p:txBody>
          <a:bodyPr wrap="none" lIns="0" tIns="0" rIns="0" bIns="0" rtlCol="0" anchor="t"/>
          <a:lstStyle/>
          <a:p>
            <a:pPr marL="0" indent="0" algn="l">
              <a:lnSpc>
                <a:spcPts val="1800"/>
              </a:lnSpc>
              <a:buNone/>
            </a:pPr>
            <a:r>
              <a:rPr lang="en-US" sz="2000" b="1" dirty="0">
                <a:latin typeface="Arial Black" panose="020B0A04020102020204" pitchFamily="34" charset="0"/>
                <a:ea typeface="Hubot Sans Bold" pitchFamily="34" charset="-122"/>
                <a:cs typeface="Hubot Sans Bold" pitchFamily="34" charset="-120"/>
              </a:rPr>
              <a:t>TEMPORAL FILTERS</a:t>
            </a:r>
            <a:endParaRPr lang="en-US" sz="2000" dirty="0">
              <a:latin typeface="Arial Black" panose="020B0A04020102020204" pitchFamily="34" charset="0"/>
            </a:endParaRPr>
          </a:p>
        </p:txBody>
      </p:sp>
      <p:sp>
        <p:nvSpPr>
          <p:cNvPr id="14" name="Text 8"/>
          <p:cNvSpPr/>
          <p:nvPr/>
        </p:nvSpPr>
        <p:spPr>
          <a:xfrm>
            <a:off x="1064419" y="6924023"/>
            <a:ext cx="6158984" cy="278450"/>
          </a:xfrm>
          <a:prstGeom prst="rect">
            <a:avLst/>
          </a:prstGeom>
          <a:noFill/>
          <a:ln/>
        </p:spPr>
        <p:txBody>
          <a:bodyPr wrap="none" lIns="0" tIns="0" rIns="0" bIns="0" rtlCol="0" anchor="t"/>
          <a:lstStyle/>
          <a:p>
            <a:pPr marL="0" indent="0" algn="l">
              <a:lnSpc>
                <a:spcPts val="1850"/>
              </a:lnSpc>
              <a:buNone/>
            </a:pPr>
            <a:r>
              <a:rPr lang="en-US" dirty="0">
                <a:ea typeface="Roboto Condensed" pitchFamily="34" charset="-122"/>
                <a:cs typeface="Roboto Condensed" pitchFamily="34" charset="-120"/>
              </a:rPr>
              <a:t>Analysed content released after 2015 to assess recent </a:t>
            </a:r>
          </a:p>
          <a:p>
            <a:pPr marL="0" indent="0" algn="l">
              <a:lnSpc>
                <a:spcPts val="1850"/>
              </a:lnSpc>
              <a:buNone/>
            </a:pPr>
            <a:r>
              <a:rPr lang="en-US" dirty="0">
                <a:ea typeface="Roboto Condensed" pitchFamily="34" charset="-122"/>
                <a:cs typeface="Roboto Condensed" pitchFamily="34" charset="-120"/>
              </a:rPr>
              <a:t>acquisition patterns</a:t>
            </a:r>
            <a:endParaRPr lang="en-US" dirty="0"/>
          </a:p>
        </p:txBody>
      </p:sp>
      <p:pic>
        <p:nvPicPr>
          <p:cNvPr id="15"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06877" y="6510376"/>
            <a:ext cx="367071" cy="435327"/>
          </a:xfrm>
          <a:prstGeom prst="rect">
            <a:avLst/>
          </a:prstGeom>
        </p:spPr>
      </p:pic>
      <p:sp>
        <p:nvSpPr>
          <p:cNvPr id="16" name="Text 9"/>
          <p:cNvSpPr/>
          <p:nvPr/>
        </p:nvSpPr>
        <p:spPr>
          <a:xfrm>
            <a:off x="7957423" y="6591993"/>
            <a:ext cx="1835468" cy="272095"/>
          </a:xfrm>
          <a:prstGeom prst="rect">
            <a:avLst/>
          </a:prstGeom>
          <a:noFill/>
          <a:ln/>
        </p:spPr>
        <p:txBody>
          <a:bodyPr wrap="none" lIns="0" tIns="0" rIns="0" bIns="0" rtlCol="0" anchor="t"/>
          <a:lstStyle/>
          <a:p>
            <a:pPr marL="0" indent="0" algn="l">
              <a:lnSpc>
                <a:spcPts val="1800"/>
              </a:lnSpc>
              <a:buNone/>
            </a:pPr>
            <a:r>
              <a:rPr lang="en-US" sz="2000" b="1" dirty="0">
                <a:latin typeface="Arial Black" panose="020B0A04020102020204" pitchFamily="34" charset="0"/>
                <a:ea typeface="Hubot Sans Bold" pitchFamily="34" charset="-122"/>
                <a:cs typeface="Hubot Sans Bold" pitchFamily="34" charset="-120"/>
              </a:rPr>
              <a:t>DATA VALIDATION</a:t>
            </a:r>
            <a:endParaRPr lang="en-US" sz="2000" dirty="0">
              <a:latin typeface="Arial Black" panose="020B0A04020102020204" pitchFamily="34" charset="0"/>
            </a:endParaRPr>
          </a:p>
        </p:txBody>
      </p:sp>
      <p:sp>
        <p:nvSpPr>
          <p:cNvPr id="17" name="Text 10"/>
          <p:cNvSpPr/>
          <p:nvPr/>
        </p:nvSpPr>
        <p:spPr>
          <a:xfrm>
            <a:off x="7957423" y="6918432"/>
            <a:ext cx="6159103" cy="278450"/>
          </a:xfrm>
          <a:prstGeom prst="rect">
            <a:avLst/>
          </a:prstGeom>
          <a:noFill/>
          <a:ln/>
        </p:spPr>
        <p:txBody>
          <a:bodyPr wrap="none" lIns="0" tIns="0" rIns="0" bIns="0" rtlCol="0" anchor="t"/>
          <a:lstStyle/>
          <a:p>
            <a:pPr marL="0" indent="0" algn="l">
              <a:lnSpc>
                <a:spcPts val="1850"/>
              </a:lnSpc>
              <a:buNone/>
            </a:pPr>
            <a:r>
              <a:rPr lang="en-US" dirty="0">
                <a:ea typeface="Roboto Condensed" pitchFamily="34" charset="-122"/>
                <a:cs typeface="Roboto Condensed" pitchFamily="34" charset="-120"/>
              </a:rPr>
              <a:t>Cross-referenced Python insights with SQL results to ensure </a:t>
            </a:r>
          </a:p>
          <a:p>
            <a:pPr marL="0" indent="0" algn="l">
              <a:lnSpc>
                <a:spcPts val="1850"/>
              </a:lnSpc>
              <a:buNone/>
            </a:pPr>
            <a:r>
              <a:rPr lang="en-US" dirty="0">
                <a:ea typeface="Roboto Condensed" pitchFamily="34" charset="-122"/>
                <a:cs typeface="Roboto Condensed" pitchFamily="34" charset="-120"/>
              </a:rPr>
              <a:t>analytical accuracy</a:t>
            </a:r>
            <a:endParaRPr lang="en-US" dirty="0"/>
          </a:p>
        </p:txBody>
      </p:sp>
      <p:pic>
        <p:nvPicPr>
          <p:cNvPr id="20" name="Picture 19" descr="A tv screen with red lights&#10;&#10;AI-generated content may be incorrect.">
            <a:extLst>
              <a:ext uri="{FF2B5EF4-FFF2-40B4-BE49-F238E27FC236}">
                <a16:creationId xmlns:a16="http://schemas.microsoft.com/office/drawing/2014/main" id="{9726C7A0-7317-DFE3-587F-6F8A1447A499}"/>
              </a:ext>
            </a:extLst>
          </p:cNvPr>
          <p:cNvPicPr>
            <a:picLocks noChangeAspect="1"/>
          </p:cNvPicPr>
          <p:nvPr/>
        </p:nvPicPr>
        <p:blipFill>
          <a:blip r:embed="rId11"/>
          <a:srcRect t="11423"/>
          <a:stretch>
            <a:fillRect/>
          </a:stretch>
        </p:blipFill>
        <p:spPr>
          <a:xfrm>
            <a:off x="506372" y="1386128"/>
            <a:ext cx="5889052" cy="3471266"/>
          </a:xfrm>
          <a:prstGeom prst="rect">
            <a:avLst/>
          </a:prstGeom>
        </p:spPr>
      </p:pic>
      <p:sp>
        <p:nvSpPr>
          <p:cNvPr id="21" name="Rectangle 20">
            <a:extLst>
              <a:ext uri="{FF2B5EF4-FFF2-40B4-BE49-F238E27FC236}">
                <a16:creationId xmlns:a16="http://schemas.microsoft.com/office/drawing/2014/main" id="{B2927AC5-3927-CD9F-0879-B7B33DF713B0}"/>
              </a:ext>
            </a:extLst>
          </p:cNvPr>
          <p:cNvSpPr/>
          <p:nvPr/>
        </p:nvSpPr>
        <p:spPr>
          <a:xfrm>
            <a:off x="12298680" y="7586168"/>
            <a:ext cx="2331720" cy="573644"/>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3E15332A-8FBE-0005-CC1F-468FD2E74D2F}"/>
              </a:ext>
            </a:extLst>
          </p:cNvPr>
          <p:cNvGrpSpPr/>
          <p:nvPr/>
        </p:nvGrpSpPr>
        <p:grpSpPr>
          <a:xfrm>
            <a:off x="591859" y="1874608"/>
            <a:ext cx="2840453" cy="435650"/>
            <a:chOff x="591859" y="2452985"/>
            <a:chExt cx="2840453" cy="435650"/>
          </a:xfrm>
        </p:grpSpPr>
        <p:sp>
          <p:nvSpPr>
            <p:cNvPr id="3" name="Shape 0"/>
            <p:cNvSpPr/>
            <p:nvPr/>
          </p:nvSpPr>
          <p:spPr>
            <a:xfrm>
              <a:off x="591859" y="2452985"/>
              <a:ext cx="2840453" cy="435650"/>
            </a:xfrm>
            <a:prstGeom prst="roundRect">
              <a:avLst>
                <a:gd name="adj" fmla="val 6094"/>
              </a:avLst>
            </a:prstGeom>
            <a:noFill/>
            <a:ln w="7620">
              <a:solidFill>
                <a:srgbClr val="1E1E1A"/>
              </a:solidFill>
              <a:prstDash val="solid"/>
            </a:ln>
          </p:spPr>
          <p:txBody>
            <a:bodyPr/>
            <a:lstStyle/>
            <a:p>
              <a:endParaRPr lang="en-US"/>
            </a:p>
          </p:txBody>
        </p:sp>
        <p:sp>
          <p:nvSpPr>
            <p:cNvPr id="4" name="Text 1"/>
            <p:cNvSpPr/>
            <p:nvPr/>
          </p:nvSpPr>
          <p:spPr>
            <a:xfrm>
              <a:off x="715268" y="2591217"/>
              <a:ext cx="1444109" cy="216337"/>
            </a:xfrm>
            <a:prstGeom prst="rect">
              <a:avLst/>
            </a:prstGeom>
            <a:noFill/>
            <a:ln/>
          </p:spPr>
          <p:txBody>
            <a:bodyPr wrap="none" lIns="0" tIns="0" rIns="0" bIns="0" rtlCol="0" anchor="t"/>
            <a:lstStyle/>
            <a:p>
              <a:pPr marL="0" indent="0" algn="l">
                <a:lnSpc>
                  <a:spcPts val="1700"/>
                </a:lnSpc>
                <a:buNone/>
              </a:pPr>
              <a:r>
                <a:rPr lang="en-US" sz="1400" dirty="0">
                  <a:latin typeface="Arial Black" panose="020B0A04020102020204" pitchFamily="34" charset="0"/>
                  <a:ea typeface="Roboto Condensed" pitchFamily="34" charset="-122"/>
                  <a:cs typeface="Roboto Condensed" pitchFamily="34" charset="-120"/>
                </a:rPr>
                <a:t>INTERACTIVE DASHBOARD</a:t>
              </a:r>
              <a:endParaRPr lang="en-US" sz="1400" dirty="0">
                <a:latin typeface="Arial Black" panose="020B0A04020102020204" pitchFamily="34" charset="0"/>
              </a:endParaRPr>
            </a:p>
          </p:txBody>
        </p:sp>
      </p:grpSp>
      <p:sp>
        <p:nvSpPr>
          <p:cNvPr id="5" name="Text 2"/>
          <p:cNvSpPr/>
          <p:nvPr/>
        </p:nvSpPr>
        <p:spPr>
          <a:xfrm>
            <a:off x="591860" y="2516059"/>
            <a:ext cx="7894320" cy="528399"/>
          </a:xfrm>
          <a:prstGeom prst="rect">
            <a:avLst/>
          </a:prstGeom>
          <a:noFill/>
          <a:ln/>
        </p:spPr>
        <p:txBody>
          <a:bodyPr wrap="none" lIns="0" tIns="0" rIns="0" bIns="0" rtlCol="0" anchor="t"/>
          <a:lstStyle/>
          <a:p>
            <a:pPr marL="0" indent="0" algn="l">
              <a:lnSpc>
                <a:spcPts val="4150"/>
              </a:lnSpc>
              <a:buNone/>
            </a:pPr>
            <a:r>
              <a:rPr lang="en-US" sz="3600" b="1" dirty="0">
                <a:solidFill>
                  <a:srgbClr val="C00000"/>
                </a:solidFill>
                <a:latin typeface="Arial Black" panose="020B0A04020102020204" pitchFamily="34" charset="0"/>
                <a:ea typeface="Hubot Sans Bold" pitchFamily="34" charset="-122"/>
                <a:cs typeface="Hubot Sans Bold" pitchFamily="34" charset="-120"/>
              </a:rPr>
              <a:t>POWER BI DASHBOARD OVERVIEW</a:t>
            </a:r>
            <a:endParaRPr lang="en-US" sz="3600" dirty="0">
              <a:solidFill>
                <a:srgbClr val="C00000"/>
              </a:solidFill>
              <a:latin typeface="Arial Black" panose="020B0A04020102020204" pitchFamily="34" charset="0"/>
            </a:endParaRPr>
          </a:p>
        </p:txBody>
      </p:sp>
      <p:grpSp>
        <p:nvGrpSpPr>
          <p:cNvPr id="23" name="Group 22">
            <a:extLst>
              <a:ext uri="{FF2B5EF4-FFF2-40B4-BE49-F238E27FC236}">
                <a16:creationId xmlns:a16="http://schemas.microsoft.com/office/drawing/2014/main" id="{B77524F7-3338-34B8-481C-D6C62B0C7D8B}"/>
              </a:ext>
            </a:extLst>
          </p:cNvPr>
          <p:cNvGrpSpPr/>
          <p:nvPr/>
        </p:nvGrpSpPr>
        <p:grpSpPr>
          <a:xfrm>
            <a:off x="591859" y="3346254"/>
            <a:ext cx="13446682" cy="3461528"/>
            <a:chOff x="591859" y="3239101"/>
            <a:chExt cx="13446682" cy="3461528"/>
          </a:xfrm>
        </p:grpSpPr>
        <p:pic>
          <p:nvPicPr>
            <p:cNvPr id="6" name="Image 1" descr="preencoded.png"/>
            <p:cNvPicPr>
              <a:picLocks noChangeAspect="1"/>
            </p:cNvPicPr>
            <p:nvPr/>
          </p:nvPicPr>
          <p:blipFill>
            <a:blip r:embed="rId3">
              <a:duotone>
                <a:prstClr val="black"/>
                <a:srgbClr val="C00000">
                  <a:tint val="45000"/>
                  <a:satMod val="400000"/>
                </a:srgbClr>
              </a:duotone>
            </a:blip>
            <a:stretch>
              <a:fillRect/>
            </a:stretch>
          </p:blipFill>
          <p:spPr>
            <a:xfrm>
              <a:off x="591859" y="3247086"/>
              <a:ext cx="845463" cy="1014651"/>
            </a:xfrm>
            <a:prstGeom prst="rect">
              <a:avLst/>
            </a:prstGeom>
          </p:spPr>
        </p:pic>
        <p:sp>
          <p:nvSpPr>
            <p:cNvPr id="7" name="Text 3"/>
            <p:cNvSpPr/>
            <p:nvPr/>
          </p:nvSpPr>
          <p:spPr>
            <a:xfrm>
              <a:off x="1606391" y="3239101"/>
              <a:ext cx="3323273" cy="264081"/>
            </a:xfrm>
            <a:prstGeom prst="rect">
              <a:avLst/>
            </a:prstGeom>
            <a:noFill/>
            <a:ln/>
          </p:spPr>
          <p:txBody>
            <a:bodyPr wrap="none" lIns="0" tIns="0" rIns="0" bIns="0" rtlCol="0" anchor="t"/>
            <a:lstStyle/>
            <a:p>
              <a:pPr marL="0" indent="0" algn="l">
                <a:lnSpc>
                  <a:spcPts val="2050"/>
                </a:lnSpc>
                <a:buNone/>
              </a:pPr>
              <a:r>
                <a:rPr lang="en-US" b="1" dirty="0">
                  <a:latin typeface="Arial Black" panose="020B0A04020102020204" pitchFamily="34" charset="0"/>
                  <a:ea typeface="Hubot Sans Bold" pitchFamily="34" charset="-122"/>
                  <a:cs typeface="Hubot Sans Bold" pitchFamily="34" charset="-120"/>
                </a:rPr>
                <a:t>EXECUTIVE OVERVIEW PAGE</a:t>
              </a:r>
              <a:endParaRPr lang="en-US" dirty="0">
                <a:latin typeface="Arial Black" panose="020B0A04020102020204" pitchFamily="34" charset="0"/>
              </a:endParaRPr>
            </a:p>
          </p:txBody>
        </p:sp>
        <p:sp>
          <p:nvSpPr>
            <p:cNvPr id="8" name="Text 4"/>
            <p:cNvSpPr/>
            <p:nvPr/>
          </p:nvSpPr>
          <p:spPr>
            <a:xfrm>
              <a:off x="1606391" y="3647472"/>
              <a:ext cx="12432149" cy="270510"/>
            </a:xfrm>
            <a:prstGeom prst="rect">
              <a:avLst/>
            </a:prstGeom>
            <a:noFill/>
            <a:ln/>
          </p:spPr>
          <p:txBody>
            <a:bodyPr wrap="none" lIns="0" tIns="0" rIns="0" bIns="0" rtlCol="0" anchor="t"/>
            <a:lstStyle/>
            <a:p>
              <a:pPr marL="0" indent="0" algn="l">
                <a:lnSpc>
                  <a:spcPts val="2100"/>
                </a:lnSpc>
                <a:buNone/>
              </a:pPr>
              <a:r>
                <a:rPr lang="en-US" dirty="0">
                  <a:ea typeface="Roboto Condensed" pitchFamily="34" charset="-122"/>
                  <a:cs typeface="Roboto Condensed" pitchFamily="34" charset="-120"/>
                </a:rPr>
                <a:t>High-level KPIs including total titles, content type split, growth trends, and top-performing categories. Designed for leadership to </a:t>
              </a:r>
            </a:p>
            <a:p>
              <a:pPr marL="0" indent="0" algn="l">
                <a:lnSpc>
                  <a:spcPts val="2100"/>
                </a:lnSpc>
                <a:buNone/>
              </a:pPr>
              <a:r>
                <a:rPr lang="en-US" dirty="0">
                  <a:ea typeface="Roboto Condensed" pitchFamily="34" charset="-122"/>
                  <a:cs typeface="Roboto Condensed" pitchFamily="34" charset="-120"/>
                </a:rPr>
                <a:t>quickly assess platform health.</a:t>
              </a:r>
              <a:endParaRPr lang="en-US" dirty="0"/>
            </a:p>
          </p:txBody>
        </p:sp>
        <p:pic>
          <p:nvPicPr>
            <p:cNvPr id="9" name="Image 2" descr="preencoded.png"/>
            <p:cNvPicPr>
              <a:picLocks noChangeAspect="1"/>
            </p:cNvPicPr>
            <p:nvPr/>
          </p:nvPicPr>
          <p:blipFill>
            <a:blip r:embed="rId4">
              <a:duotone>
                <a:prstClr val="black"/>
                <a:srgbClr val="C00000">
                  <a:tint val="45000"/>
                  <a:satMod val="400000"/>
                </a:srgbClr>
              </a:duotone>
            </a:blip>
            <a:stretch>
              <a:fillRect/>
            </a:stretch>
          </p:blipFill>
          <p:spPr>
            <a:xfrm>
              <a:off x="591860" y="4487204"/>
              <a:ext cx="845463" cy="1014651"/>
            </a:xfrm>
            <a:prstGeom prst="rect">
              <a:avLst/>
            </a:prstGeom>
          </p:spPr>
        </p:pic>
        <p:sp>
          <p:nvSpPr>
            <p:cNvPr id="10" name="Text 5"/>
            <p:cNvSpPr/>
            <p:nvPr/>
          </p:nvSpPr>
          <p:spPr>
            <a:xfrm>
              <a:off x="1606391" y="4507892"/>
              <a:ext cx="2997637" cy="264081"/>
            </a:xfrm>
            <a:prstGeom prst="rect">
              <a:avLst/>
            </a:prstGeom>
            <a:noFill/>
            <a:ln/>
          </p:spPr>
          <p:txBody>
            <a:bodyPr wrap="none" lIns="0" tIns="0" rIns="0" bIns="0" rtlCol="0" anchor="t"/>
            <a:lstStyle/>
            <a:p>
              <a:pPr marL="0" indent="0" algn="l">
                <a:lnSpc>
                  <a:spcPts val="2050"/>
                </a:lnSpc>
                <a:buNone/>
              </a:pPr>
              <a:r>
                <a:rPr lang="en-US" b="1" dirty="0">
                  <a:latin typeface="Arial Black" panose="020B0A04020102020204" pitchFamily="34" charset="0"/>
                  <a:ea typeface="Hubot Sans Bold" pitchFamily="34" charset="-122"/>
                  <a:cs typeface="Hubot Sans Bold" pitchFamily="34" charset="-120"/>
                </a:rPr>
                <a:t>CONTENT DEEP DIVE PAGE</a:t>
              </a:r>
              <a:endParaRPr lang="en-US" dirty="0">
                <a:latin typeface="Arial Black" panose="020B0A04020102020204" pitchFamily="34" charset="0"/>
              </a:endParaRPr>
            </a:p>
          </p:txBody>
        </p:sp>
        <p:sp>
          <p:nvSpPr>
            <p:cNvPr id="11" name="Text 6"/>
            <p:cNvSpPr/>
            <p:nvPr/>
          </p:nvSpPr>
          <p:spPr>
            <a:xfrm>
              <a:off x="1606392" y="4831097"/>
              <a:ext cx="12432149" cy="270510"/>
            </a:xfrm>
            <a:prstGeom prst="rect">
              <a:avLst/>
            </a:prstGeom>
            <a:noFill/>
            <a:ln/>
          </p:spPr>
          <p:txBody>
            <a:bodyPr wrap="none" lIns="0" tIns="0" rIns="0" bIns="0" rtlCol="0" anchor="t"/>
            <a:lstStyle/>
            <a:p>
              <a:pPr marL="0" indent="0" algn="l">
                <a:lnSpc>
                  <a:spcPts val="2100"/>
                </a:lnSpc>
                <a:buNone/>
              </a:pPr>
              <a:r>
                <a:rPr lang="en-US" dirty="0">
                  <a:ea typeface="Roboto Condensed" pitchFamily="34" charset="-122"/>
                  <a:cs typeface="Roboto Condensed" pitchFamily="34" charset="-120"/>
                </a:rPr>
                <a:t>Detailed breakdowns by genre, country, duration, and rating. Enables content strategists to identify gaps and opportunities in the</a:t>
              </a:r>
            </a:p>
            <a:p>
              <a:pPr marL="0" indent="0" algn="l">
                <a:lnSpc>
                  <a:spcPts val="2100"/>
                </a:lnSpc>
                <a:buNone/>
              </a:pPr>
              <a:r>
                <a:rPr lang="en-US" dirty="0">
                  <a:ea typeface="Roboto Condensed" pitchFamily="34" charset="-122"/>
                  <a:cs typeface="Roboto Condensed" pitchFamily="34" charset="-120"/>
                </a:rPr>
                <a:t>catalogue.</a:t>
              </a:r>
              <a:endParaRPr lang="en-US" dirty="0"/>
            </a:p>
          </p:txBody>
        </p:sp>
        <p:pic>
          <p:nvPicPr>
            <p:cNvPr id="12" name="Image 3" descr="preencoded.png"/>
            <p:cNvPicPr>
              <a:picLocks noChangeAspect="1"/>
            </p:cNvPicPr>
            <p:nvPr/>
          </p:nvPicPr>
          <p:blipFill>
            <a:blip r:embed="rId5">
              <a:duotone>
                <a:prstClr val="black"/>
                <a:srgbClr val="C00000">
                  <a:tint val="45000"/>
                  <a:satMod val="400000"/>
                </a:srgbClr>
              </a:duotone>
            </a:blip>
            <a:stretch>
              <a:fillRect/>
            </a:stretch>
          </p:blipFill>
          <p:spPr>
            <a:xfrm>
              <a:off x="591860" y="5685978"/>
              <a:ext cx="845463" cy="1014651"/>
            </a:xfrm>
            <a:prstGeom prst="rect">
              <a:avLst/>
            </a:prstGeom>
          </p:spPr>
        </p:pic>
        <p:sp>
          <p:nvSpPr>
            <p:cNvPr id="13" name="Text 7"/>
            <p:cNvSpPr/>
            <p:nvPr/>
          </p:nvSpPr>
          <p:spPr>
            <a:xfrm>
              <a:off x="1606391" y="5655519"/>
              <a:ext cx="3998357" cy="264081"/>
            </a:xfrm>
            <a:prstGeom prst="rect">
              <a:avLst/>
            </a:prstGeom>
            <a:noFill/>
            <a:ln/>
          </p:spPr>
          <p:txBody>
            <a:bodyPr wrap="none" lIns="0" tIns="0" rIns="0" bIns="0" rtlCol="0" anchor="t"/>
            <a:lstStyle/>
            <a:p>
              <a:pPr marL="0" indent="0" algn="l">
                <a:lnSpc>
                  <a:spcPts val="2050"/>
                </a:lnSpc>
                <a:buNone/>
              </a:pPr>
              <a:r>
                <a:rPr lang="en-US" b="1" dirty="0">
                  <a:latin typeface="Arial Black" panose="020B0A04020102020204" pitchFamily="34" charset="0"/>
                  <a:ea typeface="Hubot Sans Bold" pitchFamily="34" charset="-122"/>
                  <a:cs typeface="Hubot Sans Bold" pitchFamily="34" charset="-120"/>
                </a:rPr>
                <a:t>INTERACTIVE EXPLORATION PAGE</a:t>
              </a:r>
              <a:endParaRPr lang="en-US" dirty="0">
                <a:latin typeface="Arial Black" panose="020B0A04020102020204" pitchFamily="34" charset="0"/>
              </a:endParaRPr>
            </a:p>
          </p:txBody>
        </p:sp>
        <p:sp>
          <p:nvSpPr>
            <p:cNvPr id="14" name="Text 8"/>
            <p:cNvSpPr/>
            <p:nvPr/>
          </p:nvSpPr>
          <p:spPr>
            <a:xfrm>
              <a:off x="1606391" y="6099184"/>
              <a:ext cx="12432149" cy="270510"/>
            </a:xfrm>
            <a:prstGeom prst="rect">
              <a:avLst/>
            </a:prstGeom>
            <a:noFill/>
            <a:ln/>
          </p:spPr>
          <p:txBody>
            <a:bodyPr wrap="none" lIns="0" tIns="0" rIns="0" bIns="0" rtlCol="0" anchor="t"/>
            <a:lstStyle/>
            <a:p>
              <a:pPr marL="0" indent="0" algn="l">
                <a:lnSpc>
                  <a:spcPts val="2100"/>
                </a:lnSpc>
                <a:buNone/>
              </a:pPr>
              <a:r>
                <a:rPr lang="en-US" dirty="0">
                  <a:ea typeface="Roboto Condensed" pitchFamily="34" charset="-122"/>
                  <a:cs typeface="Roboto Condensed" pitchFamily="34" charset="-120"/>
                </a:rPr>
                <a:t>Dynamic slicers allowing users to filter by content type, release year, rating, and country. Empowers stakeholders to conduct ad-hoc </a:t>
              </a:r>
            </a:p>
            <a:p>
              <a:pPr marL="0" indent="0" algn="l">
                <a:lnSpc>
                  <a:spcPts val="2100"/>
                </a:lnSpc>
                <a:buNone/>
              </a:pPr>
              <a:r>
                <a:rPr lang="en-US" dirty="0">
                  <a:ea typeface="Roboto Condensed" pitchFamily="34" charset="-122"/>
                  <a:cs typeface="Roboto Condensed" pitchFamily="34" charset="-120"/>
                </a:rPr>
                <a:t>analysis and answer specific business questions.</a:t>
              </a:r>
              <a:endParaRPr lang="en-US" dirty="0"/>
            </a:p>
          </p:txBody>
        </p:sp>
      </p:grpSp>
      <p:sp>
        <p:nvSpPr>
          <p:cNvPr id="15" name="Text 9"/>
          <p:cNvSpPr/>
          <p:nvPr/>
        </p:nvSpPr>
        <p:spPr>
          <a:xfrm>
            <a:off x="591860" y="7109579"/>
            <a:ext cx="13446681" cy="541020"/>
          </a:xfrm>
          <a:prstGeom prst="rect">
            <a:avLst/>
          </a:prstGeom>
          <a:noFill/>
          <a:ln/>
        </p:spPr>
        <p:txBody>
          <a:bodyPr wrap="square" lIns="0" tIns="0" rIns="0" bIns="0" rtlCol="0" anchor="t"/>
          <a:lstStyle/>
          <a:p>
            <a:pPr marL="0" indent="0" algn="l">
              <a:lnSpc>
                <a:spcPts val="2100"/>
              </a:lnSpc>
              <a:buNone/>
            </a:pPr>
            <a:r>
              <a:rPr lang="en-US" sz="2000" dirty="0">
                <a:ea typeface="Roboto Condensed" pitchFamily="34" charset="-122"/>
                <a:cs typeface="Roboto Condensed" pitchFamily="34" charset="-120"/>
              </a:rPr>
              <a:t>The dashboard transforms static analysis into an interactive decision-making tool, enabling product managers and analysts to explore data dynamically and derive actionable insights tailored to their specific needs.</a:t>
            </a:r>
            <a:endParaRPr lang="en-US" sz="2000" dirty="0"/>
          </a:p>
        </p:txBody>
      </p:sp>
      <p:sp>
        <p:nvSpPr>
          <p:cNvPr id="17" name="Rectangle 16">
            <a:extLst>
              <a:ext uri="{FF2B5EF4-FFF2-40B4-BE49-F238E27FC236}">
                <a16:creationId xmlns:a16="http://schemas.microsoft.com/office/drawing/2014/main" id="{C9B3E4CD-EDA4-6AEE-81C8-93A533BF2236}"/>
              </a:ext>
            </a:extLst>
          </p:cNvPr>
          <p:cNvSpPr/>
          <p:nvPr/>
        </p:nvSpPr>
        <p:spPr>
          <a:xfrm>
            <a:off x="12298680" y="7586168"/>
            <a:ext cx="2331720" cy="573644"/>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black background with red text&#10;&#10;AI-generated content may be incorrect.">
            <a:extLst>
              <a:ext uri="{FF2B5EF4-FFF2-40B4-BE49-F238E27FC236}">
                <a16:creationId xmlns:a16="http://schemas.microsoft.com/office/drawing/2014/main" id="{DDD50512-1B5A-C801-5529-AE25FAA6B1C2}"/>
              </a:ext>
            </a:extLst>
          </p:cNvPr>
          <p:cNvPicPr>
            <a:picLocks noChangeAspect="1"/>
          </p:cNvPicPr>
          <p:nvPr/>
        </p:nvPicPr>
        <p:blipFill>
          <a:blip r:embed="rId6"/>
          <a:srcRect t="36195" b="45263"/>
          <a:stretch>
            <a:fillRect/>
          </a:stretch>
        </p:blipFill>
        <p:spPr>
          <a:xfrm>
            <a:off x="1" y="9752"/>
            <a:ext cx="14630399" cy="15192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2B4C4AC8-8CE2-A1E4-2C98-E185C31C7608}"/>
              </a:ext>
            </a:extLst>
          </p:cNvPr>
          <p:cNvGrpSpPr/>
          <p:nvPr/>
        </p:nvGrpSpPr>
        <p:grpSpPr>
          <a:xfrm>
            <a:off x="6193639" y="346072"/>
            <a:ext cx="2001126" cy="304485"/>
            <a:chOff x="6037617" y="417590"/>
            <a:chExt cx="2001126" cy="304485"/>
          </a:xfrm>
        </p:grpSpPr>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7617" y="417590"/>
              <a:ext cx="304485" cy="304485"/>
            </a:xfrm>
            <a:prstGeom prst="rect">
              <a:avLst/>
            </a:prstGeom>
          </p:spPr>
        </p:pic>
        <p:sp>
          <p:nvSpPr>
            <p:cNvPr id="5" name="Text 1"/>
            <p:cNvSpPr/>
            <p:nvPr/>
          </p:nvSpPr>
          <p:spPr>
            <a:xfrm>
              <a:off x="6342102" y="492443"/>
              <a:ext cx="1696641" cy="206693"/>
            </a:xfrm>
            <a:prstGeom prst="rect">
              <a:avLst/>
            </a:prstGeom>
            <a:noFill/>
            <a:ln/>
          </p:spPr>
          <p:txBody>
            <a:bodyPr wrap="none" lIns="0" tIns="0" rIns="0" bIns="0" rtlCol="0" anchor="t"/>
            <a:lstStyle/>
            <a:p>
              <a:pPr marL="0" indent="0" algn="l">
                <a:lnSpc>
                  <a:spcPts val="1600"/>
                </a:lnSpc>
                <a:buNone/>
              </a:pPr>
              <a:r>
                <a:rPr lang="en-US" dirty="0">
                  <a:latin typeface="Arial Black" panose="020B0A04020102020204" pitchFamily="34" charset="0"/>
                  <a:ea typeface="Roboto Condensed" pitchFamily="34" charset="-122"/>
                  <a:cs typeface="Roboto Condensed" pitchFamily="34" charset="-120"/>
                </a:rPr>
                <a:t>STRATEGIC RECOMMENDATIONS</a:t>
              </a:r>
              <a:endParaRPr lang="en-US" dirty="0">
                <a:latin typeface="Arial Black" panose="020B0A04020102020204" pitchFamily="34" charset="0"/>
              </a:endParaRPr>
            </a:p>
          </p:txBody>
        </p:sp>
      </p:grpSp>
      <p:sp>
        <p:nvSpPr>
          <p:cNvPr id="6" name="Text 2"/>
          <p:cNvSpPr/>
          <p:nvPr/>
        </p:nvSpPr>
        <p:spPr>
          <a:xfrm>
            <a:off x="6159710" y="821797"/>
            <a:ext cx="8013621" cy="1009174"/>
          </a:xfrm>
          <a:prstGeom prst="rect">
            <a:avLst/>
          </a:prstGeom>
          <a:noFill/>
          <a:ln/>
        </p:spPr>
        <p:txBody>
          <a:bodyPr wrap="square" lIns="0" tIns="0" rIns="0" bIns="0" rtlCol="0" anchor="t"/>
          <a:lstStyle/>
          <a:p>
            <a:pPr marL="0" indent="0" algn="l">
              <a:lnSpc>
                <a:spcPts val="3950"/>
              </a:lnSpc>
              <a:buNone/>
            </a:pPr>
            <a:r>
              <a:rPr lang="en-US" sz="3200" b="1" dirty="0">
                <a:latin typeface="Arial Black" panose="020B0A04020102020204" pitchFamily="34" charset="0"/>
                <a:ea typeface="Hubot Sans Bold" pitchFamily="34" charset="-122"/>
                <a:cs typeface="Hubot Sans Bold" pitchFamily="34" charset="-120"/>
              </a:rPr>
              <a:t>KEY BUSINESS INSIGHTS &amp; ACTIONS</a:t>
            </a:r>
            <a:endParaRPr lang="en-US" sz="3200" dirty="0">
              <a:latin typeface="Arial Black" panose="020B0A04020102020204" pitchFamily="34" charset="0"/>
            </a:endParaRPr>
          </a:p>
        </p:txBody>
      </p:sp>
      <p:grpSp>
        <p:nvGrpSpPr>
          <p:cNvPr id="29" name="Group 28">
            <a:extLst>
              <a:ext uri="{FF2B5EF4-FFF2-40B4-BE49-F238E27FC236}">
                <a16:creationId xmlns:a16="http://schemas.microsoft.com/office/drawing/2014/main" id="{07ECB2F5-8373-640A-5950-60659E11952D}"/>
              </a:ext>
            </a:extLst>
          </p:cNvPr>
          <p:cNvGrpSpPr/>
          <p:nvPr/>
        </p:nvGrpSpPr>
        <p:grpSpPr>
          <a:xfrm>
            <a:off x="6170779" y="2063353"/>
            <a:ext cx="8036481" cy="5723096"/>
            <a:chOff x="6051590" y="2063353"/>
            <a:chExt cx="8036481" cy="5723096"/>
          </a:xfrm>
        </p:grpSpPr>
        <p:sp>
          <p:nvSpPr>
            <p:cNvPr id="7" name="Shape 3"/>
            <p:cNvSpPr/>
            <p:nvPr/>
          </p:nvSpPr>
          <p:spPr>
            <a:xfrm>
              <a:off x="6051590" y="2063353"/>
              <a:ext cx="22860" cy="5723096"/>
            </a:xfrm>
            <a:prstGeom prst="roundRect">
              <a:avLst>
                <a:gd name="adj" fmla="val 105974"/>
              </a:avLst>
            </a:prstGeom>
            <a:solidFill>
              <a:srgbClr val="AEB0A7"/>
            </a:solidFill>
            <a:ln/>
          </p:spPr>
          <p:txBody>
            <a:bodyPr/>
            <a:lstStyle/>
            <a:p>
              <a:endParaRPr lang="en-US" sz="2400"/>
            </a:p>
          </p:txBody>
        </p:sp>
        <p:sp>
          <p:nvSpPr>
            <p:cNvPr id="8" name="Shape 4"/>
            <p:cNvSpPr/>
            <p:nvPr/>
          </p:nvSpPr>
          <p:spPr>
            <a:xfrm>
              <a:off x="6074450" y="2063353"/>
              <a:ext cx="8013621" cy="1188601"/>
            </a:xfrm>
            <a:prstGeom prst="rect">
              <a:avLst/>
            </a:prstGeom>
            <a:solidFill>
              <a:schemeClr val="accent6">
                <a:lumMod val="60000"/>
                <a:lumOff val="40000"/>
              </a:schemeClr>
            </a:solidFill>
            <a:ln/>
          </p:spPr>
          <p:txBody>
            <a:bodyPr/>
            <a:lstStyle/>
            <a:p>
              <a:endParaRPr lang="en-US" sz="2400"/>
            </a:p>
          </p:txBody>
        </p:sp>
        <p:sp>
          <p:nvSpPr>
            <p:cNvPr id="9" name="Text 5"/>
            <p:cNvSpPr/>
            <p:nvPr/>
          </p:nvSpPr>
          <p:spPr>
            <a:xfrm>
              <a:off x="6235898" y="2224802"/>
              <a:ext cx="5078016" cy="252413"/>
            </a:xfrm>
            <a:prstGeom prst="rect">
              <a:avLst/>
            </a:prstGeom>
            <a:noFill/>
            <a:ln/>
          </p:spPr>
          <p:txBody>
            <a:bodyPr wrap="none" lIns="0" tIns="0" rIns="0" bIns="0" rtlCol="0" anchor="t"/>
            <a:lstStyle/>
            <a:p>
              <a:pPr marL="0" indent="0" algn="l">
                <a:lnSpc>
                  <a:spcPts val="1950"/>
                </a:lnSpc>
                <a:buNone/>
              </a:pPr>
              <a:r>
                <a:rPr lang="en-US" b="1" dirty="0">
                  <a:latin typeface="Arial Black" panose="020B0A04020102020204" pitchFamily="34" charset="0"/>
                  <a:ea typeface="Hubot Sans Bold" pitchFamily="34" charset="-122"/>
                  <a:cs typeface="Hubot Sans Bold" pitchFamily="34" charset="-120"/>
                </a:rPr>
                <a:t>DOUBLE DOWN ON HIGH-PERFORMING GENRES</a:t>
              </a:r>
              <a:endParaRPr lang="en-US" dirty="0">
                <a:latin typeface="Arial Black" panose="020B0A04020102020204" pitchFamily="34" charset="0"/>
              </a:endParaRPr>
            </a:p>
          </p:txBody>
        </p:sp>
        <p:sp>
          <p:nvSpPr>
            <p:cNvPr id="10" name="Text 6"/>
            <p:cNvSpPr/>
            <p:nvPr/>
          </p:nvSpPr>
          <p:spPr>
            <a:xfrm>
              <a:off x="6235898" y="2574012"/>
              <a:ext cx="7690723" cy="516493"/>
            </a:xfrm>
            <a:prstGeom prst="rect">
              <a:avLst/>
            </a:prstGeom>
            <a:noFill/>
            <a:ln/>
          </p:spPr>
          <p:txBody>
            <a:bodyPr wrap="square" lIns="0" tIns="0" rIns="0" bIns="0" rtlCol="0" anchor="t"/>
            <a:lstStyle/>
            <a:p>
              <a:pPr marL="0" indent="0" algn="l">
                <a:lnSpc>
                  <a:spcPts val="2000"/>
                </a:lnSpc>
                <a:buNone/>
              </a:pPr>
              <a:r>
                <a:rPr lang="en-US" sz="1600" dirty="0">
                  <a:ea typeface="Roboto Condensed" pitchFamily="34" charset="-122"/>
                  <a:cs typeface="Roboto Condensed" pitchFamily="34" charset="-120"/>
                </a:rPr>
                <a:t>Increase investment in Drama and Documentaries, which demonstrate consistent viewer engagement. Consider expanding Stand-Up Comedy originals as a platform differentiator.</a:t>
              </a:r>
              <a:endParaRPr lang="en-US" sz="1600" dirty="0"/>
            </a:p>
          </p:txBody>
        </p:sp>
        <p:sp>
          <p:nvSpPr>
            <p:cNvPr id="11" name="Shape 7"/>
            <p:cNvSpPr/>
            <p:nvPr/>
          </p:nvSpPr>
          <p:spPr>
            <a:xfrm>
              <a:off x="6074450" y="3574852"/>
              <a:ext cx="8013621" cy="1350049"/>
            </a:xfrm>
            <a:prstGeom prst="rect">
              <a:avLst/>
            </a:prstGeom>
            <a:solidFill>
              <a:schemeClr val="accent6">
                <a:lumMod val="60000"/>
                <a:lumOff val="40000"/>
              </a:schemeClr>
            </a:solidFill>
            <a:ln/>
          </p:spPr>
          <p:txBody>
            <a:bodyPr/>
            <a:lstStyle/>
            <a:p>
              <a:endParaRPr lang="en-US" sz="2400"/>
            </a:p>
          </p:txBody>
        </p:sp>
        <p:sp>
          <p:nvSpPr>
            <p:cNvPr id="12" name="Text 8"/>
            <p:cNvSpPr/>
            <p:nvPr/>
          </p:nvSpPr>
          <p:spPr>
            <a:xfrm>
              <a:off x="6235898" y="3736300"/>
              <a:ext cx="5188268" cy="252413"/>
            </a:xfrm>
            <a:prstGeom prst="rect">
              <a:avLst/>
            </a:prstGeom>
            <a:noFill/>
            <a:ln/>
          </p:spPr>
          <p:txBody>
            <a:bodyPr wrap="none" lIns="0" tIns="0" rIns="0" bIns="0" rtlCol="0" anchor="t"/>
            <a:lstStyle/>
            <a:p>
              <a:pPr marL="0" indent="0" algn="l">
                <a:lnSpc>
                  <a:spcPts val="1950"/>
                </a:lnSpc>
                <a:buNone/>
              </a:pPr>
              <a:r>
                <a:rPr lang="en-US" b="1" dirty="0">
                  <a:latin typeface="Arial Black" panose="020B0A04020102020204" pitchFamily="34" charset="0"/>
                  <a:ea typeface="Hubot Sans Bold" pitchFamily="34" charset="-122"/>
                  <a:cs typeface="Hubot Sans Bold" pitchFamily="34" charset="-120"/>
                </a:rPr>
                <a:t>STRENGTHEN REGIONAL CONTENT STRATEGIES</a:t>
              </a:r>
              <a:endParaRPr lang="en-US" dirty="0">
                <a:latin typeface="Arial Black" panose="020B0A04020102020204" pitchFamily="34" charset="0"/>
              </a:endParaRPr>
            </a:p>
          </p:txBody>
        </p:sp>
        <p:sp>
          <p:nvSpPr>
            <p:cNvPr id="13" name="Text 9"/>
            <p:cNvSpPr/>
            <p:nvPr/>
          </p:nvSpPr>
          <p:spPr>
            <a:xfrm>
              <a:off x="6235898" y="4085511"/>
              <a:ext cx="7690723" cy="516493"/>
            </a:xfrm>
            <a:prstGeom prst="rect">
              <a:avLst/>
            </a:prstGeom>
            <a:noFill/>
            <a:ln/>
          </p:spPr>
          <p:txBody>
            <a:bodyPr wrap="square" lIns="0" tIns="0" rIns="0" bIns="0" rtlCol="0" anchor="t"/>
            <a:lstStyle/>
            <a:p>
              <a:pPr marL="0" indent="0" algn="l">
                <a:lnSpc>
                  <a:spcPts val="2000"/>
                </a:lnSpc>
                <a:buNone/>
              </a:pPr>
              <a:r>
                <a:rPr lang="en-US" sz="1600" dirty="0">
                  <a:ea typeface="Roboto Condensed" pitchFamily="34" charset="-122"/>
                  <a:cs typeface="Roboto Condensed" pitchFamily="34" charset="-120"/>
                </a:rPr>
                <a:t>Accelerate content acquisition and production in India, the UK, South Korea, and emerging markets. Localised content drives subscriber growth and reduces churn in international markets.</a:t>
              </a:r>
              <a:endParaRPr lang="en-US" sz="1600" dirty="0"/>
            </a:p>
          </p:txBody>
        </p:sp>
        <p:sp>
          <p:nvSpPr>
            <p:cNvPr id="14" name="Shape 10"/>
            <p:cNvSpPr/>
            <p:nvPr/>
          </p:nvSpPr>
          <p:spPr>
            <a:xfrm>
              <a:off x="6074450" y="5086350"/>
              <a:ext cx="8013621" cy="1188601"/>
            </a:xfrm>
            <a:prstGeom prst="rect">
              <a:avLst/>
            </a:prstGeom>
            <a:solidFill>
              <a:schemeClr val="accent6">
                <a:lumMod val="60000"/>
                <a:lumOff val="40000"/>
              </a:schemeClr>
            </a:solidFill>
            <a:ln/>
          </p:spPr>
          <p:txBody>
            <a:bodyPr/>
            <a:lstStyle/>
            <a:p>
              <a:endParaRPr lang="en-US" sz="2400"/>
            </a:p>
          </p:txBody>
        </p:sp>
        <p:sp>
          <p:nvSpPr>
            <p:cNvPr id="15" name="Text 11"/>
            <p:cNvSpPr/>
            <p:nvPr/>
          </p:nvSpPr>
          <p:spPr>
            <a:xfrm>
              <a:off x="6235898" y="5247799"/>
              <a:ext cx="4045387" cy="252413"/>
            </a:xfrm>
            <a:prstGeom prst="rect">
              <a:avLst/>
            </a:prstGeom>
            <a:noFill/>
            <a:ln/>
          </p:spPr>
          <p:txBody>
            <a:bodyPr wrap="none" lIns="0" tIns="0" rIns="0" bIns="0" rtlCol="0" anchor="t"/>
            <a:lstStyle/>
            <a:p>
              <a:pPr marL="0" indent="0" algn="l">
                <a:lnSpc>
                  <a:spcPts val="1950"/>
                </a:lnSpc>
                <a:buNone/>
              </a:pPr>
              <a:r>
                <a:rPr lang="en-US" b="1" dirty="0">
                  <a:latin typeface="Arial Black" panose="020B0A04020102020204" pitchFamily="34" charset="0"/>
                  <a:ea typeface="Hubot Sans Bold" pitchFamily="34" charset="-122"/>
                  <a:cs typeface="Hubot Sans Bold" pitchFamily="34" charset="-120"/>
                </a:rPr>
                <a:t>MAINTAIN BALANCED CONTENT MIX</a:t>
              </a:r>
              <a:endParaRPr lang="en-US" dirty="0">
                <a:latin typeface="Arial Black" panose="020B0A04020102020204" pitchFamily="34" charset="0"/>
              </a:endParaRPr>
            </a:p>
          </p:txBody>
        </p:sp>
        <p:sp>
          <p:nvSpPr>
            <p:cNvPr id="16" name="Text 12"/>
            <p:cNvSpPr/>
            <p:nvPr/>
          </p:nvSpPr>
          <p:spPr>
            <a:xfrm>
              <a:off x="6235898" y="5597009"/>
              <a:ext cx="7690723" cy="516493"/>
            </a:xfrm>
            <a:prstGeom prst="rect">
              <a:avLst/>
            </a:prstGeom>
            <a:noFill/>
            <a:ln/>
          </p:spPr>
          <p:txBody>
            <a:bodyPr wrap="square" lIns="0" tIns="0" rIns="0" bIns="0" rtlCol="0" anchor="t"/>
            <a:lstStyle/>
            <a:p>
              <a:pPr marL="0" indent="0" algn="l">
                <a:lnSpc>
                  <a:spcPts val="2000"/>
                </a:lnSpc>
                <a:buNone/>
              </a:pPr>
              <a:r>
                <a:rPr lang="en-US" sz="1600" dirty="0">
                  <a:ea typeface="Roboto Condensed" pitchFamily="34" charset="-122"/>
                  <a:cs typeface="Roboto Condensed" pitchFamily="34" charset="-120"/>
                </a:rPr>
                <a:t>Preserve the 70/30 movies-to-TV-shows ratio whilst monitoring shifts in viewer preferences. TV shows drive long-term engagement, whilst movies attract new subscribers.</a:t>
              </a:r>
              <a:endParaRPr lang="en-US" sz="1600" dirty="0"/>
            </a:p>
          </p:txBody>
        </p:sp>
        <p:sp>
          <p:nvSpPr>
            <p:cNvPr id="17" name="Shape 13"/>
            <p:cNvSpPr/>
            <p:nvPr/>
          </p:nvSpPr>
          <p:spPr>
            <a:xfrm>
              <a:off x="6074450" y="6597848"/>
              <a:ext cx="8013621" cy="1188601"/>
            </a:xfrm>
            <a:prstGeom prst="rect">
              <a:avLst/>
            </a:prstGeom>
            <a:solidFill>
              <a:schemeClr val="accent6">
                <a:lumMod val="60000"/>
                <a:lumOff val="40000"/>
              </a:schemeClr>
            </a:solidFill>
            <a:ln/>
          </p:spPr>
          <p:txBody>
            <a:bodyPr/>
            <a:lstStyle/>
            <a:p>
              <a:endParaRPr lang="en-US" sz="2400"/>
            </a:p>
          </p:txBody>
        </p:sp>
        <p:sp>
          <p:nvSpPr>
            <p:cNvPr id="18" name="Text 14"/>
            <p:cNvSpPr/>
            <p:nvPr/>
          </p:nvSpPr>
          <p:spPr>
            <a:xfrm>
              <a:off x="6235898" y="6759297"/>
              <a:ext cx="4783455" cy="252413"/>
            </a:xfrm>
            <a:prstGeom prst="rect">
              <a:avLst/>
            </a:prstGeom>
            <a:noFill/>
            <a:ln/>
          </p:spPr>
          <p:txBody>
            <a:bodyPr wrap="none" lIns="0" tIns="0" rIns="0" bIns="0" rtlCol="0" anchor="t"/>
            <a:lstStyle/>
            <a:p>
              <a:pPr marL="0" indent="0" algn="l">
                <a:lnSpc>
                  <a:spcPts val="1950"/>
                </a:lnSpc>
                <a:buNone/>
              </a:pPr>
              <a:r>
                <a:rPr lang="en-US" b="1" dirty="0">
                  <a:latin typeface="Arial Black" panose="020B0A04020102020204" pitchFamily="34" charset="0"/>
                  <a:ea typeface="Hubot Sans Bold" pitchFamily="34" charset="-122"/>
                  <a:cs typeface="Hubot Sans Bold" pitchFamily="34" charset="-120"/>
                </a:rPr>
                <a:t>LEVERAGE GROWTH TRENDS FOR PLANNING</a:t>
              </a:r>
              <a:endParaRPr lang="en-US" dirty="0">
                <a:latin typeface="Arial Black" panose="020B0A04020102020204" pitchFamily="34" charset="0"/>
              </a:endParaRPr>
            </a:p>
          </p:txBody>
        </p:sp>
        <p:sp>
          <p:nvSpPr>
            <p:cNvPr id="19" name="Text 15"/>
            <p:cNvSpPr/>
            <p:nvPr/>
          </p:nvSpPr>
          <p:spPr>
            <a:xfrm>
              <a:off x="6235898" y="7108508"/>
              <a:ext cx="7690723" cy="516493"/>
            </a:xfrm>
            <a:prstGeom prst="rect">
              <a:avLst/>
            </a:prstGeom>
            <a:noFill/>
            <a:ln/>
          </p:spPr>
          <p:txBody>
            <a:bodyPr wrap="square" lIns="0" tIns="0" rIns="0" bIns="0" rtlCol="0" anchor="t"/>
            <a:lstStyle/>
            <a:p>
              <a:pPr marL="0" indent="0" algn="l">
                <a:lnSpc>
                  <a:spcPts val="2000"/>
                </a:lnSpc>
                <a:buNone/>
              </a:pPr>
              <a:r>
                <a:rPr lang="en-US" sz="1600" dirty="0">
                  <a:ea typeface="Roboto Condensed" pitchFamily="34" charset="-122"/>
                  <a:cs typeface="Roboto Condensed" pitchFamily="34" charset="-120"/>
                </a:rPr>
                <a:t>Use content addition patterns from 2018–2020 as benchmarks for future acquisition budgets. Align content strategy with seasonal viewing behaviours and release calendars.</a:t>
              </a:r>
              <a:endParaRPr lang="en-US" sz="1600" dirty="0"/>
            </a:p>
          </p:txBody>
        </p:sp>
      </p:grpSp>
      <p:sp>
        <p:nvSpPr>
          <p:cNvPr id="21" name="Rectangle 20">
            <a:extLst>
              <a:ext uri="{FF2B5EF4-FFF2-40B4-BE49-F238E27FC236}">
                <a16:creationId xmlns:a16="http://schemas.microsoft.com/office/drawing/2014/main" id="{F32FF74C-1357-5B73-38F3-84B9EDBC9BA8}"/>
              </a:ext>
            </a:extLst>
          </p:cNvPr>
          <p:cNvSpPr/>
          <p:nvPr/>
        </p:nvSpPr>
        <p:spPr>
          <a:xfrm>
            <a:off x="12298680" y="7786448"/>
            <a:ext cx="2331720" cy="373363"/>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B967BD2-DEAE-F126-BA27-E8EAC3117795}"/>
              </a:ext>
            </a:extLst>
          </p:cNvPr>
          <p:cNvSpPr/>
          <p:nvPr/>
        </p:nvSpPr>
        <p:spPr>
          <a:xfrm>
            <a:off x="0" y="0"/>
            <a:ext cx="5890140" cy="82296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671A4550-E4CE-6CB1-4EB5-6C472F576FA1}"/>
              </a:ext>
            </a:extLst>
          </p:cNvPr>
          <p:cNvGrpSpPr/>
          <p:nvPr/>
        </p:nvGrpSpPr>
        <p:grpSpPr>
          <a:xfrm>
            <a:off x="1571021" y="-2378765"/>
            <a:ext cx="2735458" cy="12987130"/>
            <a:chOff x="1061383" y="-2190703"/>
            <a:chExt cx="2735458" cy="12987130"/>
          </a:xfrm>
        </p:grpSpPr>
        <p:sp>
          <p:nvSpPr>
            <p:cNvPr id="24" name="Minus Sign 23">
              <a:extLst>
                <a:ext uri="{FF2B5EF4-FFF2-40B4-BE49-F238E27FC236}">
                  <a16:creationId xmlns:a16="http://schemas.microsoft.com/office/drawing/2014/main" id="{B335DCB7-8307-E1DB-15F1-7F620D34342B}"/>
                </a:ext>
              </a:extLst>
            </p:cNvPr>
            <p:cNvSpPr/>
            <p:nvPr/>
          </p:nvSpPr>
          <p:spPr>
            <a:xfrm>
              <a:off x="1127231" y="-2190703"/>
              <a:ext cx="867884" cy="12987130"/>
            </a:xfrm>
            <a:prstGeom prst="mathMin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Sign 24">
              <a:extLst>
                <a:ext uri="{FF2B5EF4-FFF2-40B4-BE49-F238E27FC236}">
                  <a16:creationId xmlns:a16="http://schemas.microsoft.com/office/drawing/2014/main" id="{252B3920-EB4A-DF62-889B-4603818034B3}"/>
                </a:ext>
              </a:extLst>
            </p:cNvPr>
            <p:cNvSpPr/>
            <p:nvPr/>
          </p:nvSpPr>
          <p:spPr>
            <a:xfrm>
              <a:off x="2882544" y="-2190703"/>
              <a:ext cx="867884" cy="12987130"/>
            </a:xfrm>
            <a:prstGeom prst="mathMin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inus Sign 25">
              <a:extLst>
                <a:ext uri="{FF2B5EF4-FFF2-40B4-BE49-F238E27FC236}">
                  <a16:creationId xmlns:a16="http://schemas.microsoft.com/office/drawing/2014/main" id="{4697593D-4671-57B3-0E88-E0B69767C500}"/>
                </a:ext>
              </a:extLst>
            </p:cNvPr>
            <p:cNvSpPr/>
            <p:nvPr/>
          </p:nvSpPr>
          <p:spPr>
            <a:xfrm rot="3418949">
              <a:off x="230977" y="2929361"/>
              <a:ext cx="4396269" cy="2735458"/>
            </a:xfrm>
            <a:prstGeom prst="mathMin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6734" y="1147336"/>
            <a:ext cx="3834289" cy="479227"/>
          </a:xfrm>
          <a:prstGeom prst="rect">
            <a:avLst/>
          </a:prstGeom>
          <a:noFill/>
          <a:ln/>
        </p:spPr>
        <p:txBody>
          <a:bodyPr wrap="none" lIns="0" tIns="0" rIns="0" bIns="0" rtlCol="0" anchor="t"/>
          <a:lstStyle/>
          <a:p>
            <a:pPr marL="0" indent="0" algn="l">
              <a:lnSpc>
                <a:spcPts val="3750"/>
              </a:lnSpc>
              <a:buNone/>
            </a:pPr>
            <a:r>
              <a:rPr lang="en-US" sz="4800" b="1" dirty="0">
                <a:latin typeface="Arial Black" panose="020B0A04020102020204" pitchFamily="34" charset="0"/>
                <a:ea typeface="Hubot Sans Bold" pitchFamily="34" charset="-122"/>
                <a:cs typeface="Hubot Sans Bold" pitchFamily="34" charset="-120"/>
              </a:rPr>
              <a:t>CONCLUSION</a:t>
            </a:r>
            <a:endParaRPr lang="en-US" sz="4800" dirty="0">
              <a:latin typeface="Arial Black" panose="020B0A04020102020204" pitchFamily="34" charset="0"/>
            </a:endParaRPr>
          </a:p>
        </p:txBody>
      </p:sp>
      <p:sp>
        <p:nvSpPr>
          <p:cNvPr id="4" name="Text 1"/>
          <p:cNvSpPr/>
          <p:nvPr/>
        </p:nvSpPr>
        <p:spPr>
          <a:xfrm>
            <a:off x="574239" y="2247245"/>
            <a:ext cx="4664631" cy="287536"/>
          </a:xfrm>
          <a:prstGeom prst="rect">
            <a:avLst/>
          </a:prstGeom>
          <a:noFill/>
          <a:ln/>
        </p:spPr>
        <p:txBody>
          <a:bodyPr wrap="none" lIns="0" tIns="0" rIns="0" bIns="0" rtlCol="0" anchor="t"/>
          <a:lstStyle/>
          <a:p>
            <a:pPr marL="0" indent="0" algn="l">
              <a:lnSpc>
                <a:spcPts val="2250"/>
              </a:lnSpc>
              <a:buNone/>
            </a:pPr>
            <a:r>
              <a:rPr lang="en-US" sz="3600" b="1" dirty="0">
                <a:solidFill>
                  <a:srgbClr val="C00000"/>
                </a:solidFill>
                <a:latin typeface="Arial Black" panose="020B0A04020102020204" pitchFamily="34" charset="0"/>
                <a:ea typeface="Hubot Sans Bold" pitchFamily="34" charset="-122"/>
                <a:cs typeface="Hubot Sans Bold" pitchFamily="34" charset="-120"/>
              </a:rPr>
              <a:t>END-TO-END ANALYTICS EXCELLENCE</a:t>
            </a:r>
            <a:endParaRPr lang="en-US" sz="3600" dirty="0">
              <a:solidFill>
                <a:srgbClr val="C00000"/>
              </a:solidFill>
              <a:latin typeface="Arial Black" panose="020B0A04020102020204" pitchFamily="34" charset="0"/>
            </a:endParaRPr>
          </a:p>
        </p:txBody>
      </p:sp>
      <p:sp>
        <p:nvSpPr>
          <p:cNvPr id="5" name="Text 2"/>
          <p:cNvSpPr/>
          <p:nvPr/>
        </p:nvSpPr>
        <p:spPr>
          <a:xfrm>
            <a:off x="536734" y="2939224"/>
            <a:ext cx="13527047" cy="735806"/>
          </a:xfrm>
          <a:prstGeom prst="rect">
            <a:avLst/>
          </a:prstGeom>
          <a:noFill/>
          <a:ln/>
        </p:spPr>
        <p:txBody>
          <a:bodyPr wrap="square" lIns="0" tIns="0" rIns="0" bIns="0" rtlCol="0" anchor="t"/>
          <a:lstStyle/>
          <a:p>
            <a:r>
              <a:rPr lang="en-US" sz="2200" dirty="0">
                <a:ea typeface="Roboto Condensed" pitchFamily="34" charset="-122"/>
                <a:cs typeface="Roboto Condensed" pitchFamily="34" charset="-120"/>
              </a:rPr>
              <a:t>This project demonstrates the power of combining Python, SQL, and Power BI to deliver comprehensive content analytics. By integrating exploratory analysis, structured queries, and interactive visualisation, we've created a robust framework for data-driven decision-making.</a:t>
            </a:r>
          </a:p>
        </p:txBody>
      </p:sp>
      <p:sp>
        <p:nvSpPr>
          <p:cNvPr id="6" name="Text 3"/>
          <p:cNvSpPr/>
          <p:nvPr/>
        </p:nvSpPr>
        <p:spPr>
          <a:xfrm>
            <a:off x="536734" y="4251885"/>
            <a:ext cx="13711952" cy="735806"/>
          </a:xfrm>
          <a:prstGeom prst="rect">
            <a:avLst/>
          </a:prstGeom>
          <a:noFill/>
          <a:ln/>
        </p:spPr>
        <p:txBody>
          <a:bodyPr wrap="square" lIns="0" tIns="0" rIns="0" bIns="0" rtlCol="0" anchor="t"/>
          <a:lstStyle/>
          <a:p>
            <a:pPr marL="0" indent="0" algn="l">
              <a:buNone/>
            </a:pPr>
            <a:r>
              <a:rPr lang="en-US" sz="2200" b="1" dirty="0">
                <a:ea typeface="Roboto Condensed" pitchFamily="34" charset="-122"/>
                <a:cs typeface="Roboto Condensed" pitchFamily="34" charset="-120"/>
              </a:rPr>
              <a:t>Key Takeaway:</a:t>
            </a:r>
            <a:r>
              <a:rPr lang="en-US" sz="2200" dirty="0">
                <a:ea typeface="Roboto Condensed" pitchFamily="34" charset="-122"/>
                <a:cs typeface="Roboto Condensed" pitchFamily="34" charset="-120"/>
              </a:rPr>
              <a:t> In the competitive OTT landscape, strategic content decisions backed by rigorous analytics separate industry leaders from followers. Understanding catalogue composition, temporal trends, and geographic opportunities enables platforms to optimise investments and maximise subscriber value.</a:t>
            </a:r>
            <a:endParaRPr lang="en-US" sz="22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77344" y="6342027"/>
            <a:ext cx="230029" cy="230029"/>
          </a:xfrm>
          <a:prstGeom prst="rect">
            <a:avLst/>
          </a:prstGeom>
        </p:spPr>
      </p:pic>
      <p:pic>
        <p:nvPicPr>
          <p:cNvPr id="11"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00186" y="6342026"/>
            <a:ext cx="230029" cy="230029"/>
          </a:xfrm>
          <a:prstGeom prst="rect">
            <a:avLst/>
          </a:prstGeom>
        </p:spPr>
      </p:pic>
      <p:pic>
        <p:nvPicPr>
          <p:cNvPr id="14"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40394" y="6342027"/>
            <a:ext cx="230029" cy="230029"/>
          </a:xfrm>
          <a:prstGeom prst="rect">
            <a:avLst/>
          </a:prstGeom>
        </p:spPr>
      </p:pic>
      <p:sp>
        <p:nvSpPr>
          <p:cNvPr id="7" name="Shape 4"/>
          <p:cNvSpPr/>
          <p:nvPr/>
        </p:nvSpPr>
        <p:spPr>
          <a:xfrm>
            <a:off x="506848" y="6040096"/>
            <a:ext cx="4416743" cy="833893"/>
          </a:xfrm>
          <a:prstGeom prst="roundRect">
            <a:avLst>
              <a:gd name="adj" fmla="val 480064"/>
            </a:avLst>
          </a:prstGeom>
          <a:solidFill>
            <a:srgbClr val="C00000">
              <a:alpha val="50000"/>
            </a:srgbClr>
          </a:solidFill>
          <a:ln/>
        </p:spPr>
        <p:txBody>
          <a:bodyPr/>
          <a:lstStyle/>
          <a:p>
            <a:endParaRPr lang="en-US"/>
          </a:p>
        </p:txBody>
      </p:sp>
      <p:sp>
        <p:nvSpPr>
          <p:cNvPr id="9" name="Text 5"/>
          <p:cNvSpPr/>
          <p:nvPr/>
        </p:nvSpPr>
        <p:spPr>
          <a:xfrm>
            <a:off x="1986676" y="7121232"/>
            <a:ext cx="1917144" cy="434212"/>
          </a:xfrm>
          <a:prstGeom prst="rect">
            <a:avLst/>
          </a:prstGeom>
          <a:noFill/>
          <a:ln/>
        </p:spPr>
        <p:txBody>
          <a:bodyPr wrap="none" lIns="0" tIns="0" rIns="0" bIns="0" rtlCol="0" anchor="t"/>
          <a:lstStyle/>
          <a:p>
            <a:pPr marL="0" indent="0" algn="l">
              <a:lnSpc>
                <a:spcPts val="1850"/>
              </a:lnSpc>
              <a:buNone/>
            </a:pPr>
            <a:r>
              <a:rPr lang="en-US" sz="2400" b="1" dirty="0">
                <a:latin typeface="Arial Black" panose="020B0A04020102020204" pitchFamily="34" charset="0"/>
                <a:ea typeface="Hubot Sans Bold" pitchFamily="34" charset="-122"/>
                <a:cs typeface="Hubot Sans Bold" pitchFamily="34" charset="-120"/>
              </a:rPr>
              <a:t>PYTHON</a:t>
            </a:r>
            <a:endParaRPr lang="en-US" sz="2400" dirty="0">
              <a:latin typeface="Arial Black" panose="020B0A04020102020204" pitchFamily="34" charset="0"/>
            </a:endParaRPr>
          </a:p>
        </p:txBody>
      </p:sp>
      <p:sp>
        <p:nvSpPr>
          <p:cNvPr id="10" name="Shape 6"/>
          <p:cNvSpPr/>
          <p:nvPr/>
        </p:nvSpPr>
        <p:spPr>
          <a:xfrm>
            <a:off x="5076943" y="6040096"/>
            <a:ext cx="4416743" cy="833893"/>
          </a:xfrm>
          <a:prstGeom prst="roundRect">
            <a:avLst>
              <a:gd name="adj" fmla="val 480064"/>
            </a:avLst>
          </a:prstGeom>
          <a:solidFill>
            <a:srgbClr val="C00000">
              <a:alpha val="50000"/>
            </a:srgbClr>
          </a:solidFill>
          <a:ln/>
        </p:spPr>
        <p:txBody>
          <a:bodyPr/>
          <a:lstStyle/>
          <a:p>
            <a:endParaRPr lang="en-US"/>
          </a:p>
        </p:txBody>
      </p:sp>
      <p:sp>
        <p:nvSpPr>
          <p:cNvPr id="12" name="Text 7"/>
          <p:cNvSpPr/>
          <p:nvPr/>
        </p:nvSpPr>
        <p:spPr>
          <a:xfrm>
            <a:off x="6992834" y="7121232"/>
            <a:ext cx="1917144" cy="434212"/>
          </a:xfrm>
          <a:prstGeom prst="rect">
            <a:avLst/>
          </a:prstGeom>
          <a:noFill/>
          <a:ln/>
        </p:spPr>
        <p:txBody>
          <a:bodyPr wrap="none" lIns="0" tIns="0" rIns="0" bIns="0" rtlCol="0" anchor="t"/>
          <a:lstStyle/>
          <a:p>
            <a:pPr marL="0" indent="0" algn="l">
              <a:lnSpc>
                <a:spcPts val="1850"/>
              </a:lnSpc>
              <a:buNone/>
            </a:pPr>
            <a:r>
              <a:rPr lang="en-US" sz="2400" b="1" dirty="0">
                <a:latin typeface="Arial Black" panose="020B0A04020102020204" pitchFamily="34" charset="0"/>
                <a:ea typeface="Hubot Sans Bold" pitchFamily="34" charset="-122"/>
                <a:cs typeface="Hubot Sans Bold" pitchFamily="34" charset="-120"/>
              </a:rPr>
              <a:t>SQL</a:t>
            </a:r>
            <a:endParaRPr lang="en-US" sz="2400" dirty="0">
              <a:latin typeface="Arial Black" panose="020B0A04020102020204" pitchFamily="34" charset="0"/>
            </a:endParaRPr>
          </a:p>
        </p:txBody>
      </p:sp>
      <p:sp>
        <p:nvSpPr>
          <p:cNvPr id="13" name="Shape 8"/>
          <p:cNvSpPr/>
          <p:nvPr/>
        </p:nvSpPr>
        <p:spPr>
          <a:xfrm>
            <a:off x="9647038" y="6040096"/>
            <a:ext cx="4416743" cy="833893"/>
          </a:xfrm>
          <a:prstGeom prst="roundRect">
            <a:avLst>
              <a:gd name="adj" fmla="val 480064"/>
            </a:avLst>
          </a:prstGeom>
          <a:solidFill>
            <a:srgbClr val="C00000">
              <a:alpha val="50000"/>
            </a:srgbClr>
          </a:solidFill>
          <a:ln/>
        </p:spPr>
        <p:txBody>
          <a:bodyPr/>
          <a:lstStyle/>
          <a:p>
            <a:endParaRPr lang="en-US"/>
          </a:p>
        </p:txBody>
      </p:sp>
      <p:sp>
        <p:nvSpPr>
          <p:cNvPr id="15" name="Text 9"/>
          <p:cNvSpPr/>
          <p:nvPr/>
        </p:nvSpPr>
        <p:spPr>
          <a:xfrm>
            <a:off x="11040420" y="7121232"/>
            <a:ext cx="1917144" cy="434212"/>
          </a:xfrm>
          <a:prstGeom prst="rect">
            <a:avLst/>
          </a:prstGeom>
          <a:noFill/>
          <a:ln/>
        </p:spPr>
        <p:txBody>
          <a:bodyPr wrap="none" lIns="0" tIns="0" rIns="0" bIns="0" rtlCol="0" anchor="t"/>
          <a:lstStyle/>
          <a:p>
            <a:pPr marL="0" indent="0" algn="l">
              <a:lnSpc>
                <a:spcPts val="1850"/>
              </a:lnSpc>
              <a:buNone/>
            </a:pPr>
            <a:r>
              <a:rPr lang="en-US" sz="2400" b="1" dirty="0">
                <a:latin typeface="Arial Black" panose="020B0A04020102020204" pitchFamily="34" charset="0"/>
                <a:ea typeface="Hubot Sans Bold" pitchFamily="34" charset="-122"/>
                <a:cs typeface="Hubot Sans Bold" pitchFamily="34" charset="-120"/>
              </a:rPr>
              <a:t>POWER BI</a:t>
            </a:r>
            <a:endParaRPr lang="en-US" sz="2400" dirty="0">
              <a:latin typeface="Arial Black" panose="020B0A04020102020204" pitchFamily="34" charset="0"/>
            </a:endParaRPr>
          </a:p>
        </p:txBody>
      </p:sp>
      <p:sp>
        <p:nvSpPr>
          <p:cNvPr id="16" name="Rectangle 15">
            <a:extLst>
              <a:ext uri="{FF2B5EF4-FFF2-40B4-BE49-F238E27FC236}">
                <a16:creationId xmlns:a16="http://schemas.microsoft.com/office/drawing/2014/main" id="{DA2D5ABF-2779-61F9-34F6-A9A7D1E85ACC}"/>
              </a:ext>
            </a:extLst>
          </p:cNvPr>
          <p:cNvSpPr/>
          <p:nvPr/>
        </p:nvSpPr>
        <p:spPr>
          <a:xfrm>
            <a:off x="12298680" y="7586168"/>
            <a:ext cx="2331720" cy="573644"/>
          </a:xfrm>
          <a:prstGeom prst="rect">
            <a:avLst/>
          </a:prstGeom>
          <a:solidFill>
            <a:srgbClr val="E8E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942</Words>
  <Application>Microsoft Office PowerPoint</Application>
  <PresentationFormat>Custom</PresentationFormat>
  <Paragraphs>134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Hubot Sans Light</vt:lpstr>
      <vt:lpstr>Arial Black</vt:lpstr>
      <vt:lpstr>Hubot Sans Bold</vt:lpstr>
      <vt:lpstr>Arial</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Abha Garg</cp:lastModifiedBy>
  <cp:revision>2</cp:revision>
  <dcterms:created xsi:type="dcterms:W3CDTF">2026-01-04T06:24:20Z</dcterms:created>
  <dcterms:modified xsi:type="dcterms:W3CDTF">2026-01-04T10:36:01Z</dcterms:modified>
</cp:coreProperties>
</file>